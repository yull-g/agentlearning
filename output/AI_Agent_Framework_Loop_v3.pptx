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089069630624e3f" /><Relationship Type="http://schemas.openxmlformats.org/officeDocument/2006/relationships/extended-properties" Target="/docProps/app.xml" Id="Ra288a2330f68440e" /><Relationship Type="http://schemas.openxmlformats.org/officeDocument/2006/relationships/officeDocument" Target="/ppt/presentation.xml" Id="R0723b0f060004a6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2daa5a06df4213"/>
  </p:sldMasterIdLst>
  <p:notesMasterIdLst>
    <p:notesMasterId xmlns:r="http://schemas.openxmlformats.org/officeDocument/2006/relationships" r:id="Rd01c7a27965f4200"/>
  </p:notesMasterIdLst>
  <p:sldIdLst>
    <p:sldId xmlns:r="http://schemas.openxmlformats.org/officeDocument/2006/relationships" id="256" r:id="Raa925d8002ba478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f1427651eb54fbb" /><Relationship Type="http://schemas.openxmlformats.org/officeDocument/2006/relationships/slideMaster" Target="/ppt/slideMasters/slideMaster1.xml" Id="Rb52daa5a06df4213" /><Relationship Type="http://schemas.openxmlformats.org/officeDocument/2006/relationships/notesMaster" Target="/ppt/notesMasters/notesMaster1.xml" Id="Rd01c7a27965f4200" /><Relationship Type="http://schemas.openxmlformats.org/officeDocument/2006/relationships/presProps" Target="/ppt/presProps.xml" Id="Rfc2e799777e24b68" /><Relationship Type="http://schemas.openxmlformats.org/officeDocument/2006/relationships/tableStyles" Target="/ppt/tableStyles.xml" Id="Rdfbdbf584b1c4f20" /><Relationship Type="http://schemas.openxmlformats.org/officeDocument/2006/relationships/slide" Target="/ppt/slides/slide1.xml" Id="Raa925d8002ba47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3578494dce4d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f6a76d9de75499a" /><Relationship Type="http://schemas.openxmlformats.org/officeDocument/2006/relationships/notesMaster" Target="/ppt/notesMasters/notesMaster1.xml" Id="Re2bff7331fc041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这是一张机制图，不规定每个任务都要调用工具。输入包括用户目标、已经进入上下文的规则和文件，以及可用工具的描述。LLM 每轮判断：若已完成任务，向用户输出最终答复与产物；若需要外部动作，则请求调用工具。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如果模型请求工具，运行时在相应环境执行操作，把工具输出或错误回送模型。模型据此更新下一步；图中的回路表示这一过程可以重复。权限、时间和停止条件由具体 Agent 运行时管理。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myls 示例：读 Outline.md → 写一个 CLI 测试 → 运行 make test → 看到失败结果 → 修改 C 代码 → 再运行测试。测试和 diff 是人审核交付结果的依据。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过渡提问：如果只说“做个 ls”，Agent 如何知道排序、隐藏项和错误输出该怎样？接下来介绍项目契约与任务卡。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资料（OpenAI Docs）：https://developers.openai.com/api/docs/guides/agents/running-agents ; https://developers.openai.com/api/docs/guides/function-calling ; https://developers.openai.com/api/docs/guides/agents-api/architecture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34e295c47e421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63c18548b9404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6ca630b1964ac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1161a34c75488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29aa100196407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d64c142c47481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92C95E8-125B-48A7-B65F-D90035C3B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81A164B-B26F-4F56-BB74-D30255F2B93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AAC641F-F16B-4F35-8C7D-B6E960D1E4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5F7CE4A-F50E-43B4-8DD7-684AD54FDF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CE2578C-B3BC-4903-BB47-9EC08488C6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41BF209-51F9-4DC4-B133-4A4A179493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634B2DF-794F-46F8-B12B-DA458E4F03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BEFD4A3-0D2F-491F-B69D-713529DC2C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737C5EF-ED83-4ACF-BB15-37BA2EADDB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087A80F-B58B-407C-A910-BD01D58BAA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200a3ce8874041" /><Relationship Type="http://schemas.openxmlformats.org/officeDocument/2006/relationships/slideLayout" Target="/ppt/slideLayouts/slideLayout1.xml" Id="R6c2a0800ac104a5a" /><Relationship Type="http://schemas.openxmlformats.org/officeDocument/2006/relationships/slideLayout" Target="/ppt/slideLayouts/slideLayout2.xml" Id="R368d27d885424892" /><Relationship Type="http://schemas.openxmlformats.org/officeDocument/2006/relationships/slideLayout" Target="/ppt/slideLayouts/slideLayout3.xml" Id="R12008e08553747cd" /><Relationship Type="http://schemas.openxmlformats.org/officeDocument/2006/relationships/slideLayout" Target="/ppt/slideLayouts/slideLayout4.xml" Id="R55eb8bad9ec54381" /><Relationship Type="http://schemas.openxmlformats.org/officeDocument/2006/relationships/slideLayout" Target="/ppt/slideLayouts/slideLayout5.xml" Id="R790a8d4fdbd64905" /><Relationship Type="http://schemas.openxmlformats.org/officeDocument/2006/relationships/slideLayout" Target="/ppt/slideLayouts/slideLayout6.xml" Id="Ra06bdb20b8054fd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2a0800ac104a5a"/>
    <p:sldLayoutId xmlns:r="http://schemas.openxmlformats.org/officeDocument/2006/relationships" id="2147483650" r:id="R368d27d885424892"/>
    <p:sldLayoutId xmlns:r="http://schemas.openxmlformats.org/officeDocument/2006/relationships" id="2147483651" r:id="R12008e08553747cd"/>
    <p:sldLayoutId xmlns:r="http://schemas.openxmlformats.org/officeDocument/2006/relationships" id="2147483652" r:id="R55eb8bad9ec54381"/>
    <p:sldLayoutId xmlns:r="http://schemas.openxmlformats.org/officeDocument/2006/relationships" id="2147483653" r:id="R790a8d4fdbd64905"/>
    <p:sldLayoutId xmlns:r="http://schemas.openxmlformats.org/officeDocument/2006/relationships" id="2147483654" r:id="Ra06bdb20b8054fd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9dca383f8b4d89" /><Relationship Type="http://schemas.openxmlformats.org/officeDocument/2006/relationships/notesSlide" Target="/ppt/notesSlides/notesSlide1.xml" Id="Ra988f14740c54f3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7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458876-B260-4452-BC4E-6A8DF513A9CA}"/>
              </a:ext>
            </a:extLst>
          </p:cNvPr>
          <p:cNvCxnSpPr>
            <a:stCxn xmlns:a="http://schemas.openxmlformats.org/drawingml/2006/main" id="16" idx="0"/>
            <a:endCxn xmlns:a="http://schemas.openxmlformats.org/drawingml/2006/main" id="7" idx="2"/>
          </p:cNvCxnSpPr>
          <p:nvPr/>
        </p:nvCxnSpPr>
        <p:spPr>
          <a:xfrm xmlns:a="http://schemas.openxmlformats.org/drawingml/2006/main" flipV="1">
            <a:off x="5143500" y="3514725"/>
            <a:ext cx="0" cy="7334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5B66E"/>
            </a:solidFill>
            <a:prstDash val="solid"/>
            <a:tailEnd type="triangle" w="med" len="med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99E623-DC6C-406D-9458-3D36EC0B1C81}"/>
              </a:ext>
            </a:extLst>
          </p:cNvPr>
          <p:cNvCxnSpPr>
            <a:stCxn xmlns:a="http://schemas.openxmlformats.org/drawingml/2006/main" id="13" idx="1"/>
            <a:endCxn xmlns:a="http://schemas.openxmlformats.org/drawingml/2006/main" id="16" idx="3"/>
          </p:cNvCxnSpPr>
          <p:nvPr/>
        </p:nvCxnSpPr>
        <p:spPr>
          <a:xfrm xmlns:a="http://schemas.openxmlformats.org/drawingml/2006/main" flipH="1">
            <a:off x="6572250" y="4843463"/>
            <a:ext cx="1619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5B66E"/>
            </a:solidFill>
            <a:prstDash val="solid"/>
            <a:tailEnd type="triangle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838A2A-FAC5-4629-A6DF-20242AEC1B6F}"/>
              </a:ext>
            </a:extLst>
          </p:cNvPr>
          <p:cNvCxnSpPr>
            <a:stCxn xmlns:a="http://schemas.openxmlformats.org/drawingml/2006/main" id="10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9620250" y="3514725"/>
            <a:ext cx="0" cy="7334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86CEE4"/>
            </a:solidFill>
            <a:prstDash val="solid"/>
            <a:tailEnd type="triangle" w="med" len="med"/>
          </a:ln>
        </p:spPr>
      </p:cxn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B0BA73-659C-45F9-B222-E301D153987D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572250" y="2919413"/>
            <a:ext cx="1619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86CEE4"/>
            </a:solidFill>
            <a:prstDash val="solid"/>
            <a:tailEnd type="triangle" w="med" len="med"/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F82388-C582-405D-8364-9CBA571FEAAD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4" idx="3"/>
          </p:cNvCxnSpPr>
          <p:nvPr/>
        </p:nvCxnSpPr>
        <p:spPr>
          <a:xfrm xmlns:a="http://schemas.openxmlformats.org/drawingml/2006/main" flipH="1">
            <a:off x="2809875" y="2919413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DDFC3"/>
            </a:solidFill>
            <a:prstDash val="solid"/>
            <a:tailEnd type="triangle" w="med" len="me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D9C09F-CD8D-4619-B236-B8A5D3080B3F}"/>
              </a:ext>
            </a:extLst>
          </p:cNvPr>
          <p:cNvCxnSpPr>
            <a:stCxn xmlns:a="http://schemas.openxmlformats.org/drawingml/2006/main" id="3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5143500" y="205740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5B66E"/>
            </a:solidFill>
            <a:prstDash val="solid"/>
            <a:tailEnd type="triangle" w="med" len="med"/>
          </a:ln>
        </p:spPr>
      </p:cxnSp>
      <p:sp>
        <p:nvSpPr>
          <p:cNvPr id="29" name="title">
            <a:extLst xmlns:a="http://schemas.openxmlformats.org/drawingml/2006/main">
              <a:ext uri="{FF2B5EF4-FFF2-40B4-BE49-F238E27FC236}">
                <a16:creationId xmlns:a16="http://schemas.microsoft.com/office/drawing/2014/main" id="{F46B9182-D965-4DB2-96C8-73809F32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809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F7F9FC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F7F9FC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450" b="1">
                <a:solidFill>
                  <a:srgbClr val="F7F9FC"/>
                </a:solidFill>
                <a:latin typeface="Hiragino Sans GB"/>
                <a:ea typeface="Hiragino Sans GB"/>
                <a:cs typeface="Hiragino Sans GB"/>
              </a:rPr>
              <a:t>AI 编码 Agent 的运行框架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3AF70DE-43B5-466C-8113-1B7C3800D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95375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C7D5E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C7D5E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7D5E1"/>
                </a:solidFill>
                <a:latin typeface="Hiragino Sans GB"/>
                <a:ea typeface="Hiragino Sans GB"/>
                <a:cs typeface="Hiragino Sans GB"/>
              </a:rPr>
              <a:t>LLM + 工具 + 反馈循环</a:t>
            </a:r>
          </a:p>
        </p:txBody>
      </p:sp>
      <p:sp>
        <p:nvSpPr>
          <p:cNvPr id="3" name="input">
            <a:extLst xmlns:a="http://schemas.openxmlformats.org/drawingml/2006/main">
              <a:ext uri="{FF2B5EF4-FFF2-40B4-BE49-F238E27FC236}">
                <a16:creationId xmlns:a16="http://schemas.microsoft.com/office/drawing/2014/main" id="{BCD058BA-5E1C-412B-A88A-4B0C53241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685925"/>
            <a:ext cx="2857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5B66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5B66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F5B66E"/>
                </a:solidFill>
                <a:latin typeface="Hiragino Sans GB"/>
                <a:ea typeface="Hiragino Sans GB"/>
                <a:cs typeface="Hiragino Sans GB"/>
              </a:rPr>
              <a:t>用户任务与已有上下文</a:t>
            </a:r>
          </a:p>
        </p:txBody>
      </p:sp>
      <p:sp>
        <p:nvSpPr>
          <p:cNvPr id="4" name="output">
            <a:extLst xmlns:a="http://schemas.openxmlformats.org/drawingml/2006/main">
              <a:ext uri="{FF2B5EF4-FFF2-40B4-BE49-F238E27FC236}">
                <a16:creationId xmlns:a16="http://schemas.microsoft.com/office/drawing/2014/main" id="{17D0D7A8-9E27-4E16-83EB-266831AB4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324100"/>
            <a:ext cx="23812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B40"/>
          </a:solidFill>
          <a:ln xmlns:a="http://schemas.openxmlformats.org/drawingml/2006/main" w="19050">
            <a:solidFill>
              <a:srgbClr val="9DDFC3"/>
            </a:solidFill>
            <a:prstDash val="solid"/>
          </a:ln>
        </p:spPr>
      </p:sp>
      <p:sp>
        <p:nvSpPr>
          <p:cNvPr id="5" name="output-title">
            <a:extLst xmlns:a="http://schemas.openxmlformats.org/drawingml/2006/main">
              <a:ext uri="{FF2B5EF4-FFF2-40B4-BE49-F238E27FC236}">
                <a16:creationId xmlns:a16="http://schemas.microsoft.com/office/drawing/2014/main" id="{AB9958B5-9004-4FC9-83FA-D361D3DEB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14600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F7F9FC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7F9FC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F7F9FC"/>
                </a:solidFill>
                <a:latin typeface="Hiragino Sans GB"/>
                <a:ea typeface="Hiragino Sans GB"/>
                <a:cs typeface="Hiragino Sans GB"/>
              </a:rPr>
              <a:t>向用户输出</a:t>
            </a:r>
          </a:p>
        </p:txBody>
      </p:sp>
      <p:sp>
        <p:nvSpPr>
          <p:cNvPr id="6" name="output-detail">
            <a:extLst xmlns:a="http://schemas.openxmlformats.org/drawingml/2006/main">
              <a:ext uri="{FF2B5EF4-FFF2-40B4-BE49-F238E27FC236}">
                <a16:creationId xmlns:a16="http://schemas.microsoft.com/office/drawing/2014/main" id="{E720158D-C813-4762-9B1A-6135915E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81325"/>
            <a:ext cx="1943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C7D5E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C7D5E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C7D5E1"/>
                </a:solidFill>
                <a:latin typeface="Hiragino Sans GB"/>
                <a:ea typeface="Hiragino Sans GB"/>
                <a:cs typeface="Hiragino Sans GB"/>
              </a:rPr>
              <a:t>答复、产物与验证结果</a:t>
            </a:r>
          </a:p>
        </p:txBody>
      </p:sp>
      <p:sp>
        <p:nvSpPr>
          <p:cNvPr id="7" name="llm">
            <a:extLst xmlns:a="http://schemas.openxmlformats.org/drawingml/2006/main">
              <a:ext uri="{FF2B5EF4-FFF2-40B4-BE49-F238E27FC236}">
                <a16:creationId xmlns:a16="http://schemas.microsoft.com/office/drawing/2014/main" id="{05359FA7-96CA-4ED9-9417-AA3102B5A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24100"/>
            <a:ext cx="28575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B40"/>
          </a:solidFill>
          <a:ln xmlns:a="http://schemas.openxmlformats.org/drawingml/2006/main" w="19050">
            <a:solidFill>
              <a:srgbClr val="F5B66E"/>
            </a:solidFill>
            <a:prstDash val="solid"/>
          </a:ln>
        </p:spPr>
      </p:sp>
      <p:sp>
        <p:nvSpPr>
          <p:cNvPr id="8" name="llm-title">
            <a:extLst xmlns:a="http://schemas.openxmlformats.org/drawingml/2006/main">
              <a:ext uri="{FF2B5EF4-FFF2-40B4-BE49-F238E27FC236}">
                <a16:creationId xmlns:a16="http://schemas.microsoft.com/office/drawing/2014/main" id="{363105C1-06C4-4C41-A550-77B9B3AB3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514600"/>
            <a:ext cx="2419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F7F9FC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7F9FC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F7F9FC"/>
                </a:solidFill>
                <a:latin typeface="Hiragino Sans GB"/>
                <a:ea typeface="Hiragino Sans GB"/>
                <a:cs typeface="Hiragino Sans GB"/>
              </a:rPr>
              <a:t>LLM 判断下一步</a:t>
            </a:r>
          </a:p>
        </p:txBody>
      </p:sp>
      <p:sp>
        <p:nvSpPr>
          <p:cNvPr id="9" name="llm-detail">
            <a:extLst xmlns:a="http://schemas.openxmlformats.org/drawingml/2006/main">
              <a:ext uri="{FF2B5EF4-FFF2-40B4-BE49-F238E27FC236}">
                <a16:creationId xmlns:a16="http://schemas.microsoft.com/office/drawing/2014/main" id="{18086382-6E93-47C5-8D5C-CB544516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981325"/>
            <a:ext cx="2419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C7D5E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C7D5E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C7D5E1"/>
                </a:solidFill>
                <a:latin typeface="Hiragino Sans GB"/>
                <a:ea typeface="Hiragino Sans GB"/>
                <a:cs typeface="Hiragino Sans GB"/>
              </a:rPr>
              <a:t>回答或请求使用工具</a:t>
            </a:r>
          </a:p>
        </p:txBody>
      </p:sp>
      <p:sp>
        <p:nvSpPr>
          <p:cNvPr id="10" name="tool">
            <a:extLst xmlns:a="http://schemas.openxmlformats.org/drawingml/2006/main">
              <a:ext uri="{FF2B5EF4-FFF2-40B4-BE49-F238E27FC236}">
                <a16:creationId xmlns:a16="http://schemas.microsoft.com/office/drawing/2014/main" id="{5E80F776-D289-4377-B3C1-29D1ED84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24100"/>
            <a:ext cx="28575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B40"/>
          </a:solidFill>
          <a:ln xmlns:a="http://schemas.openxmlformats.org/drawingml/2006/main" w="19050">
            <a:solidFill>
              <a:srgbClr val="86CEE4"/>
            </a:solidFill>
            <a:prstDash val="solid"/>
          </a:ln>
        </p:spPr>
      </p:sp>
      <p:sp>
        <p:nvSpPr>
          <p:cNvPr id="11" name="tool-title">
            <a:extLst xmlns:a="http://schemas.openxmlformats.org/drawingml/2006/main">
              <a:ext uri="{FF2B5EF4-FFF2-40B4-BE49-F238E27FC236}">
                <a16:creationId xmlns:a16="http://schemas.microsoft.com/office/drawing/2014/main" id="{D8E0C825-37D3-4AA7-9C10-EF3D96090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514600"/>
            <a:ext cx="2419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F7F9FC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7F9FC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F7F9FC"/>
                </a:solidFill>
                <a:latin typeface="Hiragino Sans GB"/>
                <a:ea typeface="Hiragino Sans GB"/>
                <a:cs typeface="Hiragino Sans GB"/>
              </a:rPr>
              <a:t>运行时执行工具</a:t>
            </a:r>
          </a:p>
        </p:txBody>
      </p:sp>
      <p:sp>
        <p:nvSpPr>
          <p:cNvPr id="12" name="tool-detail">
            <a:extLst xmlns:a="http://schemas.openxmlformats.org/drawingml/2006/main">
              <a:ext uri="{FF2B5EF4-FFF2-40B4-BE49-F238E27FC236}">
                <a16:creationId xmlns:a16="http://schemas.microsoft.com/office/drawing/2014/main" id="{D0B42F80-9371-46F2-B260-B8F48CF2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981325"/>
            <a:ext cx="2419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C7D5E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C7D5E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C7D5E1"/>
                </a:solidFill>
                <a:latin typeface="Hiragino Sans GB"/>
                <a:ea typeface="Hiragino Sans GB"/>
                <a:cs typeface="Hiragino Sans GB"/>
              </a:rPr>
              <a:t>读写文件、运行命令</a:t>
            </a:r>
          </a:p>
        </p:txBody>
      </p:sp>
      <p:sp>
        <p:nvSpPr>
          <p:cNvPr id="13" name="result">
            <a:extLst xmlns:a="http://schemas.openxmlformats.org/drawingml/2006/main">
              <a:ext uri="{FF2B5EF4-FFF2-40B4-BE49-F238E27FC236}">
                <a16:creationId xmlns:a16="http://schemas.microsoft.com/office/drawing/2014/main" id="{760F68FE-FCE2-4F3A-8A5D-D0841475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48150"/>
            <a:ext cx="28575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B40"/>
          </a:solidFill>
          <a:ln xmlns:a="http://schemas.openxmlformats.org/drawingml/2006/main" w="19050">
            <a:solidFill>
              <a:srgbClr val="86CEE4"/>
            </a:solidFill>
            <a:prstDash val="solid"/>
          </a:ln>
        </p:spPr>
      </p:sp>
      <p:sp>
        <p:nvSpPr>
          <p:cNvPr id="14" name="result-title">
            <a:extLst xmlns:a="http://schemas.openxmlformats.org/drawingml/2006/main">
              <a:ext uri="{FF2B5EF4-FFF2-40B4-BE49-F238E27FC236}">
                <a16:creationId xmlns:a16="http://schemas.microsoft.com/office/drawing/2014/main" id="{DF9F89E2-257C-4C41-A7B0-95A25603D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4438650"/>
            <a:ext cx="2419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F7F9FC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7F9FC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F7F9FC"/>
                </a:solidFill>
                <a:latin typeface="Hiragino Sans GB"/>
                <a:ea typeface="Hiragino Sans GB"/>
                <a:cs typeface="Hiragino Sans GB"/>
              </a:rPr>
              <a:t>观察工具结果</a:t>
            </a:r>
          </a:p>
        </p:txBody>
      </p:sp>
      <p:sp>
        <p:nvSpPr>
          <p:cNvPr id="15" name="result-detail">
            <a:extLst xmlns:a="http://schemas.openxmlformats.org/drawingml/2006/main">
              <a:ext uri="{FF2B5EF4-FFF2-40B4-BE49-F238E27FC236}">
                <a16:creationId xmlns:a16="http://schemas.microsoft.com/office/drawing/2014/main" id="{416FECB9-A025-4788-BA13-953D4260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4905375"/>
            <a:ext cx="2419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C7D5E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C7D5E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C7D5E1"/>
                </a:solidFill>
                <a:latin typeface="Hiragino Sans GB"/>
                <a:ea typeface="Hiragino Sans GB"/>
                <a:cs typeface="Hiragino Sans GB"/>
              </a:rPr>
              <a:t>文件、日志与测试反馈</a:t>
            </a:r>
          </a:p>
        </p:txBody>
      </p:sp>
      <p:sp>
        <p:nvSpPr>
          <p:cNvPr id="16" name="context">
            <a:extLst xmlns:a="http://schemas.openxmlformats.org/drawingml/2006/main">
              <a:ext uri="{FF2B5EF4-FFF2-40B4-BE49-F238E27FC236}">
                <a16:creationId xmlns:a16="http://schemas.microsoft.com/office/drawing/2014/main" id="{58229950-25E9-4945-8BC7-69B1C5ABF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48150"/>
            <a:ext cx="28575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B40"/>
          </a:solidFill>
          <a:ln xmlns:a="http://schemas.openxmlformats.org/drawingml/2006/main" w="19050">
            <a:solidFill>
              <a:srgbClr val="F5B66E"/>
            </a:solidFill>
            <a:prstDash val="solid"/>
          </a:ln>
        </p:spPr>
      </p:sp>
      <p:sp>
        <p:nvSpPr>
          <p:cNvPr id="17" name="context-title">
            <a:extLst xmlns:a="http://schemas.openxmlformats.org/drawingml/2006/main">
              <a:ext uri="{FF2B5EF4-FFF2-40B4-BE49-F238E27FC236}">
                <a16:creationId xmlns:a16="http://schemas.microsoft.com/office/drawing/2014/main" id="{0C39CBB9-A14B-42EB-95CB-420770AED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4438650"/>
            <a:ext cx="2419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F7F9FC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7F9FC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F7F9FC"/>
                </a:solidFill>
                <a:latin typeface="Hiragino Sans GB"/>
                <a:ea typeface="Hiragino Sans GB"/>
                <a:cs typeface="Hiragino Sans GB"/>
              </a:rPr>
              <a:t>上下文更新</a:t>
            </a:r>
          </a:p>
        </p:txBody>
      </p:sp>
      <p:sp>
        <p:nvSpPr>
          <p:cNvPr id="18" name="context-detail">
            <a:extLst xmlns:a="http://schemas.openxmlformats.org/drawingml/2006/main">
              <a:ext uri="{FF2B5EF4-FFF2-40B4-BE49-F238E27FC236}">
                <a16:creationId xmlns:a16="http://schemas.microsoft.com/office/drawing/2014/main" id="{54F5A132-FF01-4628-A71F-0997BF1E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4905375"/>
            <a:ext cx="2419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C7D5E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C7D5E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C7D5E1"/>
                </a:solidFill>
                <a:latin typeface="Hiragino Sans GB"/>
                <a:ea typeface="Hiragino Sans GB"/>
                <a:cs typeface="Hiragino Sans GB"/>
              </a:rPr>
              <a:t>结果进入下一轮输入</a:t>
            </a:r>
          </a:p>
        </p:txBody>
      </p:sp>
      <p:sp>
        <p:nvSpPr>
          <p:cNvPr id="25" name="finish-label">
            <a:extLst xmlns:a="http://schemas.openxmlformats.org/drawingml/2006/main">
              <a:ext uri="{FF2B5EF4-FFF2-40B4-BE49-F238E27FC236}">
                <a16:creationId xmlns:a16="http://schemas.microsoft.com/office/drawing/2014/main" id="{B175B530-9A72-4C78-89DB-4F7D67A8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25336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9DDFC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9DDFC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9DDFC3"/>
                </a:solidFill>
                <a:latin typeface="Hiragino Sans GB"/>
                <a:ea typeface="Hiragino Sans GB"/>
                <a:cs typeface="Hiragino Sans GB"/>
              </a:rPr>
              <a:t>完成</a:t>
            </a:r>
          </a:p>
        </p:txBody>
      </p:sp>
      <p:sp>
        <p:nvSpPr>
          <p:cNvPr id="26" name="tool-label">
            <a:extLst xmlns:a="http://schemas.openxmlformats.org/drawingml/2006/main">
              <a:ext uri="{FF2B5EF4-FFF2-40B4-BE49-F238E27FC236}">
                <a16:creationId xmlns:a16="http://schemas.microsoft.com/office/drawing/2014/main" id="{EC78BAEF-65E1-4A99-9415-E1F4CDBF3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533650"/>
            <a:ext cx="1362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86CEE4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86CEE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86CEE4"/>
                </a:solidFill>
                <a:latin typeface="Hiragino Sans GB"/>
                <a:ea typeface="Hiragino Sans GB"/>
                <a:cs typeface="Hiragino Sans GB"/>
              </a:rPr>
              <a:t>需调用工具</a:t>
            </a:r>
          </a:p>
        </p:txBody>
      </p:sp>
      <p:sp>
        <p:nvSpPr>
          <p:cNvPr id="27" name="loop-label">
            <a:extLst xmlns:a="http://schemas.openxmlformats.org/drawingml/2006/main">
              <a:ext uri="{FF2B5EF4-FFF2-40B4-BE49-F238E27FC236}">
                <a16:creationId xmlns:a16="http://schemas.microsoft.com/office/drawing/2014/main" id="{50B326CA-6986-4908-A3B2-4C6659B8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67125"/>
            <a:ext cx="123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F5B66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F5B66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F5B66E"/>
                </a:solidFill>
                <a:latin typeface="Hiragino Sans GB"/>
                <a:ea typeface="Hiragino Sans GB"/>
                <a:cs typeface="Hiragino Sans GB"/>
              </a:rPr>
              <a:t>反馈循环</a:t>
            </a:r>
          </a:p>
        </p:txBody>
      </p:sp>
      <p:sp>
        <p:nvSpPr>
          <p:cNvPr id="28" name="stop-condition">
            <a:extLst xmlns:a="http://schemas.openxmlformats.org/drawingml/2006/main">
              <a:ext uri="{FF2B5EF4-FFF2-40B4-BE49-F238E27FC236}">
                <a16:creationId xmlns:a16="http://schemas.microsoft.com/office/drawing/2014/main" id="{D7554F19-E2EC-4C8E-83AD-53F506D5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F5B66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5B66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F5B66E"/>
                </a:solidFill>
                <a:latin typeface="Hiragino Sans GB"/>
                <a:ea typeface="Hiragino Sans GB"/>
                <a:cs typeface="Hiragino Sans GB"/>
              </a:rPr>
              <a:t>每轮都可判断是否结束；人用契约、测试和 diff 验收交付结果</a:t>
            </a:r>
          </a:p>
        </p:txBody>
      </p:sp>
    </p:spTree>
    <p:extLst>
      <p:ext uri="{BB962C8B-B14F-4D97-AF65-F5344CB8AC3E}">
        <p14:creationId xmlns:p14="http://schemas.microsoft.com/office/powerpoint/2010/main" val="16054554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2026-10-13T15:38:46.7760000Z</dcterms:created>
  <dcterms:modified xsi:type="dcterms:W3CDTF">2026-10-13T15:38:46.7760000Z</dcterms:modified>
</coreProperties>
</file>