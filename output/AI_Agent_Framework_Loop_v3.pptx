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7" r:id="rId3"/>
    <p:sldId id="256" r:id="rId5"/>
  </p:sldIdLst>
  <p:sldSz cx="12192000" cy="6858000"/>
  <p:notesSz cx="6858000" cy="9144000"/>
  <p:embeddedFontLst>
    <p:embeddedFont>
      <p:font typeface="Hiragino Sans GB" panose="020B0300000000000000" charset="-122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/>
        </p:nvSpPr>
        <p:spPr>
          <a:xfrm>
            <a:off x="666750" y="457200"/>
            <a:ext cx="819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编码 Agent 的发展脉络</a:t>
            </a:r>
            <a:endParaRPr sz="34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1057275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代表节点相互重叠，并非严格分期</a:t>
            </a:r>
            <a:endParaRPr sz="172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year-1"/>
          <p:cNvSpPr>
            <a:spLocks noGrp="1"/>
          </p:cNvSpPr>
          <p:nvPr/>
        </p:nvSpPr>
        <p:spPr>
          <a:xfrm>
            <a:off x="704850" y="17240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2017—2019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label-1"/>
          <p:cNvSpPr>
            <a:spLocks noGrp="1"/>
          </p:cNvSpPr>
          <p:nvPr/>
        </p:nvSpPr>
        <p:spPr>
          <a:xfrm>
            <a:off x="2143125" y="16859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架构与预训练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examples-1"/>
          <p:cNvSpPr>
            <a:spLocks noGrp="1"/>
          </p:cNvSpPr>
          <p:nvPr/>
        </p:nvSpPr>
        <p:spPr>
          <a:xfrm>
            <a:off x="2143125" y="19907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Transformer、BERT、GPT-2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year-2"/>
          <p:cNvSpPr>
            <a:spLocks noGrp="1"/>
          </p:cNvSpPr>
          <p:nvPr/>
        </p:nvSpPr>
        <p:spPr>
          <a:xfrm>
            <a:off x="704850" y="23717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2020—2022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label-2"/>
          <p:cNvSpPr>
            <a:spLocks noGrp="1"/>
          </p:cNvSpPr>
          <p:nvPr/>
        </p:nvSpPr>
        <p:spPr>
          <a:xfrm>
            <a:off x="2143125" y="23336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规模化与少样本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examples-2"/>
          <p:cNvSpPr>
            <a:spLocks noGrp="1"/>
          </p:cNvSpPr>
          <p:nvPr/>
        </p:nvSpPr>
        <p:spPr>
          <a:xfrm>
            <a:off x="2143125" y="26384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GPT-3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year-3"/>
          <p:cNvSpPr>
            <a:spLocks noGrp="1"/>
          </p:cNvSpPr>
          <p:nvPr/>
        </p:nvSpPr>
        <p:spPr>
          <a:xfrm>
            <a:off x="704850" y="30194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2022—2023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label-3"/>
          <p:cNvSpPr>
            <a:spLocks noGrp="1"/>
          </p:cNvSpPr>
          <p:nvPr/>
        </p:nvSpPr>
        <p:spPr>
          <a:xfrm>
            <a:off x="2143125" y="29813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对话交互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examples-3"/>
          <p:cNvSpPr>
            <a:spLocks noGrp="1"/>
          </p:cNvSpPr>
          <p:nvPr/>
        </p:nvSpPr>
        <p:spPr>
          <a:xfrm>
            <a:off x="2143125" y="32861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ChatGPT、GPT-4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year-4"/>
          <p:cNvSpPr>
            <a:spLocks noGrp="1"/>
          </p:cNvSpPr>
          <p:nvPr/>
        </p:nvSpPr>
        <p:spPr>
          <a:xfrm>
            <a:off x="704850" y="36671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2020—2024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label-4"/>
          <p:cNvSpPr>
            <a:spLocks noGrp="1"/>
          </p:cNvSpPr>
          <p:nvPr/>
        </p:nvSpPr>
        <p:spPr>
          <a:xfrm>
            <a:off x="2143125" y="36290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检索与工具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examples-4"/>
          <p:cNvSpPr>
            <a:spLocks noGrp="1"/>
          </p:cNvSpPr>
          <p:nvPr/>
        </p:nvSpPr>
        <p:spPr>
          <a:xfrm>
            <a:off x="2143125" y="39338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RAG、Function Calling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year-5"/>
          <p:cNvSpPr>
            <a:spLocks noGrp="1"/>
          </p:cNvSpPr>
          <p:nvPr/>
        </p:nvSpPr>
        <p:spPr>
          <a:xfrm>
            <a:off x="704850" y="43148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2024—2025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label-5"/>
          <p:cNvSpPr>
            <a:spLocks noGrp="1"/>
          </p:cNvSpPr>
          <p:nvPr/>
        </p:nvSpPr>
        <p:spPr>
          <a:xfrm>
            <a:off x="2143125" y="42767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推理能力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examples-5"/>
          <p:cNvSpPr>
            <a:spLocks noGrp="1"/>
          </p:cNvSpPr>
          <p:nvPr/>
        </p:nvSpPr>
        <p:spPr>
          <a:xfrm>
            <a:off x="2143125" y="45815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o1、DeepSeek-R1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year-6"/>
          <p:cNvSpPr>
            <a:spLocks noGrp="1"/>
          </p:cNvSpPr>
          <p:nvPr/>
        </p:nvSpPr>
        <p:spPr>
          <a:xfrm>
            <a:off x="704850" y="4962525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2025—2026</a:t>
            </a:r>
            <a:endParaRPr sz="15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0" name="label-6"/>
          <p:cNvSpPr>
            <a:spLocks noGrp="1"/>
          </p:cNvSpPr>
          <p:nvPr/>
        </p:nvSpPr>
        <p:spPr>
          <a:xfrm>
            <a:off x="2143125" y="4924425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编码 Agent 产品化</a:t>
            </a:r>
            <a:endParaRPr sz="2025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examples-6"/>
          <p:cNvSpPr>
            <a:spLocks noGrp="1"/>
          </p:cNvSpPr>
          <p:nvPr/>
        </p:nvSpPr>
        <p:spPr>
          <a:xfrm>
            <a:off x="2143125" y="52292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en-US"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Cursor、</a:t>
            </a:r>
            <a:r>
              <a:rPr sz="1575" b="0">
                <a:solidFill>
                  <a:srgbClr val="B8C9D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Claude Code、Codex</a:t>
            </a:r>
            <a:endParaRPr sz="1575" b="0">
              <a:solidFill>
                <a:srgbClr val="B8C9D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2" name="closing-question"/>
          <p:cNvSpPr>
            <a:spLocks noGrp="1"/>
          </p:cNvSpPr>
          <p:nvPr/>
        </p:nvSpPr>
        <p:spPr>
          <a:xfrm>
            <a:off x="685800" y="5800725"/>
            <a:ext cx="7143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>
              <a:defRPr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模型</a:t>
            </a:r>
            <a:r>
              <a:rPr lang="en-US" alt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(</a:t>
            </a:r>
            <a:r>
              <a:rPr lang="zh-CN" altLang="en-US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大脑</a:t>
            </a:r>
            <a:r>
              <a:rPr lang="en-US" alt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) + </a:t>
            </a:r>
            <a:r>
              <a:rPr lang="zh-CN" altLang="en-US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工具</a:t>
            </a:r>
            <a:r>
              <a:rPr lang="en-US" alt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(</a:t>
            </a:r>
            <a:r>
              <a:rPr lang="zh-CN" altLang="en-US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四肢</a:t>
            </a:r>
            <a:r>
              <a:rPr lang="en-US" alt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) ≈ Agent(</a:t>
            </a:r>
            <a:r>
              <a:rPr lang="zh-CN" altLang="en-US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智能体</a:t>
            </a:r>
            <a:r>
              <a:rPr lang="en-US" altLang="zh-CN" sz="1950" b="1">
                <a:solidFill>
                  <a:srgbClr val="F7C98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)</a:t>
            </a:r>
            <a:endParaRPr lang="en-US" altLang="zh-CN" sz="1950" b="1">
              <a:solidFill>
                <a:srgbClr val="F7C98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4" name="直接箭头连接符 23"/>
          <p:cNvCxnSpPr>
            <a:stCxn id="16" idx="0"/>
            <a:endCxn id="7" idx="2"/>
          </p:cNvCxnSpPr>
          <p:nvPr/>
        </p:nvCxnSpPr>
        <p:spPr>
          <a:xfrm flipV="1">
            <a:off x="5143500" y="3514725"/>
            <a:ext cx="0" cy="733425"/>
          </a:xfrm>
          <a:prstGeom prst="straightConnector1">
            <a:avLst/>
          </a:prstGeom>
          <a:ln w="28575">
            <a:solidFill>
              <a:srgbClr val="F5B66E"/>
            </a:solidFill>
            <a:prstDash val="solid"/>
            <a:tailEnd type="triangle" w="med" len="med"/>
          </a:ln>
        </p:spPr>
      </p:cxnSp>
      <p:cxnSp>
        <p:nvCxnSpPr>
          <p:cNvPr id="23" name="直接箭头连接符 22"/>
          <p:cNvCxnSpPr>
            <a:stCxn id="13" idx="1"/>
            <a:endCxn id="16" idx="3"/>
          </p:cNvCxnSpPr>
          <p:nvPr/>
        </p:nvCxnSpPr>
        <p:spPr>
          <a:xfrm flipH="1">
            <a:off x="6572250" y="4843463"/>
            <a:ext cx="1619250" cy="0"/>
          </a:xfrm>
          <a:prstGeom prst="straightConnector1">
            <a:avLst/>
          </a:prstGeom>
          <a:ln w="28575">
            <a:solidFill>
              <a:srgbClr val="F5B66E"/>
            </a:solidFill>
            <a:prstDash val="solid"/>
            <a:tailEnd type="triangle" w="med" len="med"/>
          </a:ln>
        </p:spPr>
      </p:cxnSp>
      <p:cxnSp>
        <p:nvCxnSpPr>
          <p:cNvPr id="22" name="直接箭头连接符 21"/>
          <p:cNvCxnSpPr>
            <a:stCxn id="10" idx="2"/>
            <a:endCxn id="13" idx="0"/>
          </p:cNvCxnSpPr>
          <p:nvPr/>
        </p:nvCxnSpPr>
        <p:spPr>
          <a:xfrm>
            <a:off x="9620250" y="3514725"/>
            <a:ext cx="0" cy="733425"/>
          </a:xfrm>
          <a:prstGeom prst="straightConnector1">
            <a:avLst/>
          </a:prstGeom>
          <a:ln w="28575">
            <a:solidFill>
              <a:srgbClr val="86CEE4"/>
            </a:solidFill>
            <a:prstDash val="solid"/>
            <a:tailEnd type="triangle" w="med" len="med"/>
          </a:ln>
        </p:spPr>
      </p:cxnSp>
      <p:cxnSp>
        <p:nvCxnSpPr>
          <p:cNvPr id="21" name="直接箭头连接符 20"/>
          <p:cNvCxnSpPr>
            <a:stCxn id="7" idx="3"/>
            <a:endCxn id="10" idx="1"/>
          </p:cNvCxnSpPr>
          <p:nvPr/>
        </p:nvCxnSpPr>
        <p:spPr>
          <a:xfrm>
            <a:off x="6572250" y="2919413"/>
            <a:ext cx="1619250" cy="0"/>
          </a:xfrm>
          <a:prstGeom prst="straightConnector1">
            <a:avLst/>
          </a:prstGeom>
          <a:ln w="28575">
            <a:solidFill>
              <a:srgbClr val="86CEE4"/>
            </a:solidFill>
            <a:prstDash val="solid"/>
            <a:tailEnd type="triangle" w="med" len="med"/>
          </a:ln>
        </p:spPr>
      </p:cxnSp>
      <p:cxnSp>
        <p:nvCxnSpPr>
          <p:cNvPr id="20" name="直接箭头连接符 19"/>
          <p:cNvCxnSpPr>
            <a:stCxn id="7" idx="1"/>
            <a:endCxn id="4" idx="3"/>
          </p:cNvCxnSpPr>
          <p:nvPr/>
        </p:nvCxnSpPr>
        <p:spPr>
          <a:xfrm flipH="1">
            <a:off x="2809875" y="2919413"/>
            <a:ext cx="904875" cy="0"/>
          </a:xfrm>
          <a:prstGeom prst="straightConnector1">
            <a:avLst/>
          </a:prstGeom>
          <a:ln w="28575">
            <a:solidFill>
              <a:srgbClr val="9DDFC3"/>
            </a:solidFill>
            <a:prstDash val="solid"/>
            <a:tailEnd type="triangle" w="med" len="med"/>
          </a:ln>
        </p:spPr>
      </p:cxnSp>
      <p:cxnSp>
        <p:nvCxnSpPr>
          <p:cNvPr id="19" name="直接箭头连接符 18"/>
          <p:cNvCxnSpPr>
            <a:stCxn id="3" idx="2"/>
            <a:endCxn id="7" idx="0"/>
          </p:cNvCxnSpPr>
          <p:nvPr/>
        </p:nvCxnSpPr>
        <p:spPr>
          <a:xfrm>
            <a:off x="5143500" y="2057400"/>
            <a:ext cx="0" cy="266700"/>
          </a:xfrm>
          <a:prstGeom prst="straightConnector1">
            <a:avLst/>
          </a:prstGeom>
          <a:ln w="28575">
            <a:solidFill>
              <a:srgbClr val="F5B66E"/>
            </a:solidFill>
            <a:prstDash val="solid"/>
            <a:tailEnd type="triangle" w="med" len="med"/>
          </a:ln>
        </p:spPr>
      </p:cxnSp>
      <p:sp>
        <p:nvSpPr>
          <p:cNvPr id="29" name="title"/>
          <p:cNvSpPr>
            <a:spLocks noGrp="1"/>
          </p:cNvSpPr>
          <p:nvPr/>
        </p:nvSpPr>
        <p:spPr>
          <a:xfrm>
            <a:off x="666750" y="466725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4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编码 Agent 的运行框架</a:t>
            </a:r>
            <a:endParaRPr sz="34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685800" y="10953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950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LLM + 工具 + 反馈循环</a:t>
            </a:r>
            <a:endParaRPr sz="1950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input"/>
          <p:cNvSpPr>
            <a:spLocks noGrp="1"/>
          </p:cNvSpPr>
          <p:nvPr/>
        </p:nvSpPr>
        <p:spPr>
          <a:xfrm>
            <a:off x="3714750" y="1685925"/>
            <a:ext cx="2857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ctr">
              <a:defRPr sz="18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用户任务与已有上下文</a:t>
            </a:r>
            <a:endParaRPr sz="1800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output"/>
          <p:cNvSpPr>
            <a:spLocks noGrp="1"/>
          </p:cNvSpPr>
          <p:nvPr/>
        </p:nvSpPr>
        <p:spPr>
          <a:xfrm>
            <a:off x="428625" y="2324100"/>
            <a:ext cx="2381250" cy="1190625"/>
          </a:xfrm>
          <a:prstGeom prst="rect">
            <a:avLst/>
          </a:prstGeom>
          <a:solidFill>
            <a:srgbClr val="0E2B40"/>
          </a:solidFill>
          <a:ln w="19050">
            <a:solidFill>
              <a:srgbClr val="9DDFC3"/>
            </a:solidFill>
            <a:prstDash val="solid"/>
          </a:ln>
        </p:spPr>
      </p:sp>
      <p:sp>
        <p:nvSpPr>
          <p:cNvPr id="5" name="output-title"/>
          <p:cNvSpPr>
            <a:spLocks noGrp="1"/>
          </p:cNvSpPr>
          <p:nvPr/>
        </p:nvSpPr>
        <p:spPr>
          <a:xfrm>
            <a:off x="647700" y="2514600"/>
            <a:ext cx="1943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向用户输出</a:t>
            </a:r>
            <a:endParaRPr sz="22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output-detail"/>
          <p:cNvSpPr>
            <a:spLocks noGrp="1"/>
          </p:cNvSpPr>
          <p:nvPr/>
        </p:nvSpPr>
        <p:spPr>
          <a:xfrm>
            <a:off x="647700" y="2981325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答复、产物与验证结果</a:t>
            </a:r>
            <a:endParaRPr sz="1575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llm"/>
          <p:cNvSpPr>
            <a:spLocks noGrp="1"/>
          </p:cNvSpPr>
          <p:nvPr/>
        </p:nvSpPr>
        <p:spPr>
          <a:xfrm>
            <a:off x="3714750" y="2324100"/>
            <a:ext cx="2857500" cy="1190625"/>
          </a:xfrm>
          <a:prstGeom prst="rect">
            <a:avLst/>
          </a:prstGeom>
          <a:solidFill>
            <a:srgbClr val="0E2B40"/>
          </a:solidFill>
          <a:ln w="19050">
            <a:solidFill>
              <a:srgbClr val="F5B66E"/>
            </a:solidFill>
            <a:prstDash val="solid"/>
          </a:ln>
        </p:spPr>
      </p:sp>
      <p:sp>
        <p:nvSpPr>
          <p:cNvPr id="8" name="llm-title"/>
          <p:cNvSpPr>
            <a:spLocks noGrp="1"/>
          </p:cNvSpPr>
          <p:nvPr/>
        </p:nvSpPr>
        <p:spPr>
          <a:xfrm>
            <a:off x="3933825" y="2514600"/>
            <a:ext cx="2419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LLM 判断下一步</a:t>
            </a:r>
            <a:endParaRPr sz="22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llm-detail"/>
          <p:cNvSpPr>
            <a:spLocks noGrp="1"/>
          </p:cNvSpPr>
          <p:nvPr/>
        </p:nvSpPr>
        <p:spPr>
          <a:xfrm>
            <a:off x="3933825" y="2981325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回答或请求使用工具</a:t>
            </a:r>
            <a:endParaRPr sz="1575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tool"/>
          <p:cNvSpPr>
            <a:spLocks noGrp="1"/>
          </p:cNvSpPr>
          <p:nvPr/>
        </p:nvSpPr>
        <p:spPr>
          <a:xfrm>
            <a:off x="8191500" y="2324100"/>
            <a:ext cx="2857500" cy="1190625"/>
          </a:xfrm>
          <a:prstGeom prst="rect">
            <a:avLst/>
          </a:prstGeom>
          <a:solidFill>
            <a:srgbClr val="0E2B40"/>
          </a:solidFill>
          <a:ln w="19050">
            <a:solidFill>
              <a:srgbClr val="86CEE4"/>
            </a:solidFill>
            <a:prstDash val="solid"/>
          </a:ln>
        </p:spPr>
      </p:sp>
      <p:sp>
        <p:nvSpPr>
          <p:cNvPr id="11" name="tool-title"/>
          <p:cNvSpPr>
            <a:spLocks noGrp="1"/>
          </p:cNvSpPr>
          <p:nvPr/>
        </p:nvSpPr>
        <p:spPr>
          <a:xfrm>
            <a:off x="8410575" y="2514600"/>
            <a:ext cx="2419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运行时执行工具</a:t>
            </a:r>
            <a:endParaRPr sz="22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tool-detail"/>
          <p:cNvSpPr>
            <a:spLocks noGrp="1"/>
          </p:cNvSpPr>
          <p:nvPr/>
        </p:nvSpPr>
        <p:spPr>
          <a:xfrm>
            <a:off x="8410575" y="2981325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读写文件、运行命令</a:t>
            </a:r>
            <a:endParaRPr sz="1575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result"/>
          <p:cNvSpPr>
            <a:spLocks noGrp="1"/>
          </p:cNvSpPr>
          <p:nvPr/>
        </p:nvSpPr>
        <p:spPr>
          <a:xfrm>
            <a:off x="8191500" y="4248150"/>
            <a:ext cx="2857500" cy="1190625"/>
          </a:xfrm>
          <a:prstGeom prst="rect">
            <a:avLst/>
          </a:prstGeom>
          <a:solidFill>
            <a:srgbClr val="0E2B40"/>
          </a:solidFill>
          <a:ln w="19050">
            <a:solidFill>
              <a:srgbClr val="86CEE4"/>
            </a:solidFill>
            <a:prstDash val="solid"/>
          </a:ln>
        </p:spPr>
      </p:sp>
      <p:sp>
        <p:nvSpPr>
          <p:cNvPr id="14" name="result-title"/>
          <p:cNvSpPr>
            <a:spLocks noGrp="1"/>
          </p:cNvSpPr>
          <p:nvPr/>
        </p:nvSpPr>
        <p:spPr>
          <a:xfrm>
            <a:off x="8410575" y="4438650"/>
            <a:ext cx="2419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观察工具结果</a:t>
            </a:r>
            <a:endParaRPr sz="22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result-detail"/>
          <p:cNvSpPr>
            <a:spLocks noGrp="1"/>
          </p:cNvSpPr>
          <p:nvPr/>
        </p:nvSpPr>
        <p:spPr>
          <a:xfrm>
            <a:off x="8410575" y="4905375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文件、日志与测试反馈</a:t>
            </a:r>
            <a:endParaRPr sz="1575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context"/>
          <p:cNvSpPr>
            <a:spLocks noGrp="1"/>
          </p:cNvSpPr>
          <p:nvPr/>
        </p:nvSpPr>
        <p:spPr>
          <a:xfrm>
            <a:off x="3714750" y="4248150"/>
            <a:ext cx="2857500" cy="1190625"/>
          </a:xfrm>
          <a:prstGeom prst="rect">
            <a:avLst/>
          </a:prstGeom>
          <a:solidFill>
            <a:srgbClr val="0E2B40"/>
          </a:solidFill>
          <a:ln w="19050">
            <a:solidFill>
              <a:srgbClr val="F5B66E"/>
            </a:solidFill>
            <a:prstDash val="solid"/>
          </a:ln>
        </p:spPr>
      </p:sp>
      <p:sp>
        <p:nvSpPr>
          <p:cNvPr id="17" name="context-title"/>
          <p:cNvSpPr>
            <a:spLocks noGrp="1"/>
          </p:cNvSpPr>
          <p:nvPr/>
        </p:nvSpPr>
        <p:spPr>
          <a:xfrm>
            <a:off x="3933825" y="4438650"/>
            <a:ext cx="2419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F7F9F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上下文更新</a:t>
            </a:r>
            <a:endParaRPr sz="2250" b="1">
              <a:solidFill>
                <a:srgbClr val="F7F9F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context-detail"/>
          <p:cNvSpPr>
            <a:spLocks noGrp="1"/>
          </p:cNvSpPr>
          <p:nvPr/>
        </p:nvSpPr>
        <p:spPr>
          <a:xfrm>
            <a:off x="3933825" y="4905375"/>
            <a:ext cx="2419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C7D5E1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结果进入下一轮输入</a:t>
            </a:r>
            <a:endParaRPr sz="1575" b="0">
              <a:solidFill>
                <a:srgbClr val="C7D5E1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finish-label"/>
          <p:cNvSpPr>
            <a:spLocks noGrp="1"/>
          </p:cNvSpPr>
          <p:nvPr/>
        </p:nvSpPr>
        <p:spPr>
          <a:xfrm>
            <a:off x="2886075" y="25336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9DDFC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ctr">
              <a:defRPr sz="1350" b="1">
                <a:solidFill>
                  <a:srgbClr val="9DDFC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9DDFC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</a:t>
            </a:r>
            <a:endParaRPr sz="1350" b="1">
              <a:solidFill>
                <a:srgbClr val="9DDFC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6" name="tool-label"/>
          <p:cNvSpPr>
            <a:spLocks noGrp="1"/>
          </p:cNvSpPr>
          <p:nvPr/>
        </p:nvSpPr>
        <p:spPr>
          <a:xfrm>
            <a:off x="6715125" y="2533650"/>
            <a:ext cx="1362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86CEE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ctr">
              <a:defRPr sz="1350" b="1">
                <a:solidFill>
                  <a:srgbClr val="86CEE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86CEE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需调用工具</a:t>
            </a:r>
            <a:endParaRPr sz="1350" b="1">
              <a:solidFill>
                <a:srgbClr val="86CEE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loop-label"/>
          <p:cNvSpPr>
            <a:spLocks noGrp="1"/>
          </p:cNvSpPr>
          <p:nvPr/>
        </p:nvSpPr>
        <p:spPr>
          <a:xfrm>
            <a:off x="6762750" y="3667125"/>
            <a:ext cx="123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ctr">
              <a:defRPr sz="2025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F5B66E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反馈循环</a:t>
            </a:r>
            <a:endParaRPr sz="2025" b="1">
              <a:solidFill>
                <a:srgbClr val="F5B66E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WPS 文字</Application>
  <PresentationFormat>Converted Presentation</PresentationFormat>
  <Paragraphs>74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Hiragino Sans GB</vt:lpstr>
      <vt:lpstr>微软雅黑</vt:lpstr>
      <vt:lpstr>汉仪旗黑</vt:lpstr>
      <vt:lpstr>宋体</vt:lpstr>
      <vt:lpstr>Arial Unicode MS</vt:lpstr>
      <vt:lpstr>宋体-简</vt:lpstr>
      <vt:lpstr>Aptos</vt:lpstr>
      <vt:lpstr>Helvetica Neue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李磊</cp:lastModifiedBy>
  <cp:revision>5</cp:revision>
  <dcterms:created xsi:type="dcterms:W3CDTF">2026-10-17T12:32:18Z</dcterms:created>
  <dcterms:modified xsi:type="dcterms:W3CDTF">2026-10-17T12:32:18Z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2052-12.1.29181.29181</vt:lpwstr>
  </property>
  <property fmtid="{D5CDD505-2E9C-101B-9397-08002B2CF9AE}" pid="3" name="ICV">
    <vt:lpwstr>331FE497C2E74A9FA6A3CF6AE30A4602_42</vt:lpwstr>
  </property>
</Properties>
</file>