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4"/>
  </p:notesMasterIdLst>
  <p:sldIdLst>
    <p:sldId id="257" r:id="rId3"/>
    <p:sldId id="256" r:id="rId5"/>
  </p:sldIdLst>
  <p:sldSz cx="12192000" cy="6858000"/>
  <p:notesSz cx="6858000" cy="9144000"/>
  <p:embeddedFontLst>
    <p:embeddedFont>
      <p:font typeface="Hiragino Sans GB" panose="020B0300000000000000" charset="-122"/>
      <p:regular r:id="rId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font" Target="fonts/font1.fntdata"/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讲解提示：这里的时间段是代表节点，不是互不重叠的技术时代。检索、工具、推理与 Agent 研究并行发展。</a:t>
            </a:r>
          </a:p>
          <a:p/>
          <a:p>
            <a:r>
              <a:t>RAG 论文发表于 2020 年；Function Calling 发布于 2023 年。GPT-4o 是多模态代表，因单页空间有限未列入主线。ReAct 在 2022 年已经讨论推理与行动交替，所以 2025 年强调编码 Agent 产品进入开发流程。</a:t>
            </a:r>
          </a:p>
          <a:p/>
          <a:p>
            <a:r>
              <a:t>过渡：打开 Outline.md 的 myls 示例，问学员 stdout、stderr、退出码由谁定义；接着演示 Red→Green→Review。</a:t>
            </a:r>
          </a:p>
          <a:p/>
          <a:p>
            <a:r>
              <a:t>资料：Transformer https://research.google/pubs/attention-is-all-you-need/ ; BERT https://arxiv.org/abs/1810.04805 ; GPT-2 https://openai.com/index/better-language-models/ ; GPT-3 https://openai.com/index/language-models-are-few-shot-learners/ ; ChatGPT https://openai.com/index/chatgpt/ ; GPT-4 https://openai.com/index/gpt-4/ ; RAG https://arxiv.org/abs/2005.11401 ; Function Calling https://openai.com/index/function-calling-and-other-api-updates/ ; o1 https://openai.com/index/introducing-openai-o1-preview/ ; DeepSeek-R1 https://deepseek.com/en/news/deepseek-r1/ ; ReAct https://research.google/blog/react-synergizing-reasoning-and-acting-in-language-models/ ; Claude Code https://www.anthropic.com/news/claude-3-7-sonnet ; Codex https://openai.com/index/introducing-codex/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这是一张机制图，不规定每个任务都要调用工具。输入包括用户目标、已经进入上下文的规则和文件，以及可用工具的描述。LLM 每轮判断：若已完成任务，向用户输出最终答复与产物；若需要外部动作，则请求调用工具。</a:t>
            </a:r>
          </a:p>
          <a:p/>
          <a:p>
            <a:r>
              <a:t>如果模型请求工具，运行时在相应环境执行操作，把工具输出或错误回送模型。模型据此更新下一步；图中的回路表示这一过程可以重复。权限、时间和停止条件由具体 Agent 运行时管理。</a:t>
            </a:r>
          </a:p>
          <a:p/>
          <a:p>
            <a:r>
              <a:t>myls 示例：读 Outline.md → 写一个 CLI 测试 → 运行 make test → 看到失败结果 → 修改 C 代码 → 再运行测试。测试和 diff 是人审核交付结果的依据。</a:t>
            </a:r>
          </a:p>
          <a:p/>
          <a:p>
            <a:r>
              <a:t>过渡提问：如果只说“做个 ls”，Agent 如何知道排序、隐藏项和错误输出该怎样？接下来介绍项目契约与任务卡。</a:t>
            </a:r>
          </a:p>
          <a:p/>
          <a:p>
            <a:r>
              <a:t>资料（OpenAI Docs）：https://developers.openai.com/api/docs/guides/agents/running-agents ; https://developers.openai.com/api/docs/guides/function-calling ; https://developers.openai.com/api/docs/guides/agents-api/architecture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3" name="图片 22"/>
          <p:cNvPicPr>
            <a:picLocks noChangeAspect="1"/>
          </p:cNvPicPr>
          <p:nvPr/>
        </p:nvPicPr>
        <p:blipFill>
          <a:blip r:embed="rId1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/>
        </p:nvSpPr>
        <p:spPr>
          <a:xfrm>
            <a:off x="666750" y="457200"/>
            <a:ext cx="8191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34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4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4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AI 编码 Agent 的发展脉络</a:t>
            </a:r>
            <a:endParaRPr sz="3450" b="1">
              <a:solidFill>
                <a:srgbClr val="F7F9FC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" name="subtitle"/>
          <p:cNvSpPr>
            <a:spLocks noGrp="1"/>
          </p:cNvSpPr>
          <p:nvPr/>
        </p:nvSpPr>
        <p:spPr>
          <a:xfrm>
            <a:off x="685800" y="1057275"/>
            <a:ext cx="619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72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72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72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代表节点相互重叠，并非严格分期</a:t>
            </a:r>
            <a:endParaRPr sz="1725" b="0">
              <a:solidFill>
                <a:srgbClr val="B8C9D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year-1"/>
          <p:cNvSpPr>
            <a:spLocks noGrp="1"/>
          </p:cNvSpPr>
          <p:nvPr/>
        </p:nvSpPr>
        <p:spPr>
          <a:xfrm>
            <a:off x="704850" y="1724025"/>
            <a:ext cx="1409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5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5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2017—2019</a:t>
            </a:r>
            <a:endParaRPr sz="1500" b="1">
              <a:solidFill>
                <a:srgbClr val="F5B66E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label-1"/>
          <p:cNvSpPr>
            <a:spLocks noGrp="1"/>
          </p:cNvSpPr>
          <p:nvPr/>
        </p:nvSpPr>
        <p:spPr>
          <a:xfrm>
            <a:off x="2143125" y="1685925"/>
            <a:ext cx="4667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2025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025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025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架构与预训练</a:t>
            </a:r>
            <a:endParaRPr sz="2025" b="1">
              <a:solidFill>
                <a:srgbClr val="F7F9FC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examples-1"/>
          <p:cNvSpPr>
            <a:spLocks noGrp="1"/>
          </p:cNvSpPr>
          <p:nvPr/>
        </p:nvSpPr>
        <p:spPr>
          <a:xfrm>
            <a:off x="2143125" y="1990725"/>
            <a:ext cx="504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57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57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7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Transformer、BERT、GPT-2</a:t>
            </a:r>
            <a:endParaRPr sz="1575" b="0">
              <a:solidFill>
                <a:srgbClr val="B8C9D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year-2"/>
          <p:cNvSpPr>
            <a:spLocks noGrp="1"/>
          </p:cNvSpPr>
          <p:nvPr/>
        </p:nvSpPr>
        <p:spPr>
          <a:xfrm>
            <a:off x="704850" y="2371725"/>
            <a:ext cx="1409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5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5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2020—2022</a:t>
            </a:r>
            <a:endParaRPr sz="1500" b="1">
              <a:solidFill>
                <a:srgbClr val="F5B66E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label-2"/>
          <p:cNvSpPr>
            <a:spLocks noGrp="1"/>
          </p:cNvSpPr>
          <p:nvPr/>
        </p:nvSpPr>
        <p:spPr>
          <a:xfrm>
            <a:off x="2143125" y="2333625"/>
            <a:ext cx="4667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2025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025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025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规模化与少样本</a:t>
            </a:r>
            <a:endParaRPr sz="2025" b="1">
              <a:solidFill>
                <a:srgbClr val="F7F9FC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examples-2"/>
          <p:cNvSpPr>
            <a:spLocks noGrp="1"/>
          </p:cNvSpPr>
          <p:nvPr/>
        </p:nvSpPr>
        <p:spPr>
          <a:xfrm>
            <a:off x="2143125" y="2638425"/>
            <a:ext cx="504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57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57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7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GPT-3</a:t>
            </a:r>
            <a:endParaRPr sz="1575" b="0">
              <a:solidFill>
                <a:srgbClr val="B8C9D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0" name="year-3"/>
          <p:cNvSpPr>
            <a:spLocks noGrp="1"/>
          </p:cNvSpPr>
          <p:nvPr/>
        </p:nvSpPr>
        <p:spPr>
          <a:xfrm>
            <a:off x="704850" y="3019425"/>
            <a:ext cx="1409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5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5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2022—2023</a:t>
            </a:r>
            <a:endParaRPr sz="1500" b="1">
              <a:solidFill>
                <a:srgbClr val="F5B66E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1" name="label-3"/>
          <p:cNvSpPr>
            <a:spLocks noGrp="1"/>
          </p:cNvSpPr>
          <p:nvPr/>
        </p:nvSpPr>
        <p:spPr>
          <a:xfrm>
            <a:off x="2143125" y="2981325"/>
            <a:ext cx="4667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2025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025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025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对话交互</a:t>
            </a:r>
            <a:endParaRPr sz="2025" b="1">
              <a:solidFill>
                <a:srgbClr val="F7F9FC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2" name="examples-3"/>
          <p:cNvSpPr>
            <a:spLocks noGrp="1"/>
          </p:cNvSpPr>
          <p:nvPr/>
        </p:nvSpPr>
        <p:spPr>
          <a:xfrm>
            <a:off x="2143125" y="3286125"/>
            <a:ext cx="504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57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57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7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ChatGPT、GPT-4</a:t>
            </a:r>
            <a:endParaRPr sz="1575" b="0">
              <a:solidFill>
                <a:srgbClr val="B8C9D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3" name="year-4"/>
          <p:cNvSpPr>
            <a:spLocks noGrp="1"/>
          </p:cNvSpPr>
          <p:nvPr/>
        </p:nvSpPr>
        <p:spPr>
          <a:xfrm>
            <a:off x="704850" y="3667125"/>
            <a:ext cx="1409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5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5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2020—2024</a:t>
            </a:r>
            <a:endParaRPr sz="1500" b="1">
              <a:solidFill>
                <a:srgbClr val="F5B66E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4" name="label-4"/>
          <p:cNvSpPr>
            <a:spLocks noGrp="1"/>
          </p:cNvSpPr>
          <p:nvPr/>
        </p:nvSpPr>
        <p:spPr>
          <a:xfrm>
            <a:off x="2143125" y="3629025"/>
            <a:ext cx="4667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2025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025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025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检索与工具</a:t>
            </a:r>
            <a:endParaRPr sz="2025" b="1">
              <a:solidFill>
                <a:srgbClr val="F7F9FC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5" name="examples-4"/>
          <p:cNvSpPr>
            <a:spLocks noGrp="1"/>
          </p:cNvSpPr>
          <p:nvPr/>
        </p:nvSpPr>
        <p:spPr>
          <a:xfrm>
            <a:off x="2143125" y="3933825"/>
            <a:ext cx="504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57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57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7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RAG、Function Calling</a:t>
            </a:r>
            <a:endParaRPr sz="1575" b="0">
              <a:solidFill>
                <a:srgbClr val="B8C9D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6" name="year-5"/>
          <p:cNvSpPr>
            <a:spLocks noGrp="1"/>
          </p:cNvSpPr>
          <p:nvPr/>
        </p:nvSpPr>
        <p:spPr>
          <a:xfrm>
            <a:off x="704850" y="4314825"/>
            <a:ext cx="1409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5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5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2024—2025</a:t>
            </a:r>
            <a:endParaRPr sz="1500" b="1">
              <a:solidFill>
                <a:srgbClr val="F5B66E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7" name="label-5"/>
          <p:cNvSpPr>
            <a:spLocks noGrp="1"/>
          </p:cNvSpPr>
          <p:nvPr/>
        </p:nvSpPr>
        <p:spPr>
          <a:xfrm>
            <a:off x="2143125" y="4276725"/>
            <a:ext cx="4667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2025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025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025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推理能力</a:t>
            </a:r>
            <a:endParaRPr sz="2025" b="1">
              <a:solidFill>
                <a:srgbClr val="F7F9FC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8" name="examples-5"/>
          <p:cNvSpPr>
            <a:spLocks noGrp="1"/>
          </p:cNvSpPr>
          <p:nvPr/>
        </p:nvSpPr>
        <p:spPr>
          <a:xfrm>
            <a:off x="2143125" y="4581525"/>
            <a:ext cx="504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57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57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7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o1、DeepSeek-R1</a:t>
            </a:r>
            <a:endParaRPr sz="1575" b="0">
              <a:solidFill>
                <a:srgbClr val="B8C9D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9" name="year-6"/>
          <p:cNvSpPr>
            <a:spLocks noGrp="1"/>
          </p:cNvSpPr>
          <p:nvPr/>
        </p:nvSpPr>
        <p:spPr>
          <a:xfrm>
            <a:off x="704850" y="4962525"/>
            <a:ext cx="1409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5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5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2025—2026</a:t>
            </a:r>
            <a:endParaRPr sz="1500" b="1">
              <a:solidFill>
                <a:srgbClr val="F5B66E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0" name="label-6"/>
          <p:cNvSpPr>
            <a:spLocks noGrp="1"/>
          </p:cNvSpPr>
          <p:nvPr/>
        </p:nvSpPr>
        <p:spPr>
          <a:xfrm>
            <a:off x="2143125" y="4924425"/>
            <a:ext cx="4667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2025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025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025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编码 Agent 产品化</a:t>
            </a:r>
            <a:endParaRPr sz="2025" b="1">
              <a:solidFill>
                <a:srgbClr val="F7F9FC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1" name="examples-6"/>
          <p:cNvSpPr>
            <a:spLocks noGrp="1"/>
          </p:cNvSpPr>
          <p:nvPr/>
        </p:nvSpPr>
        <p:spPr>
          <a:xfrm>
            <a:off x="2143125" y="5229225"/>
            <a:ext cx="504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57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57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75" b="0">
                <a:solidFill>
                  <a:srgbClr val="B8C9D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Claude Code、Codex</a:t>
            </a:r>
            <a:endParaRPr sz="1575" b="0">
              <a:solidFill>
                <a:srgbClr val="B8C9D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2" name="closing-question"/>
          <p:cNvSpPr>
            <a:spLocks noGrp="1"/>
          </p:cNvSpPr>
          <p:nvPr/>
        </p:nvSpPr>
        <p:spPr>
          <a:xfrm>
            <a:off x="685800" y="5800725"/>
            <a:ext cx="7143750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950" b="1">
                <a:solidFill>
                  <a:srgbClr val="F7C98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950" b="1">
                <a:solidFill>
                  <a:srgbClr val="F7C98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950" b="1">
                <a:solidFill>
                  <a:srgbClr val="F7C98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课堂问题：AI 能改代码，谁来定义它做对了？</a:t>
            </a:r>
            <a:endParaRPr sz="1950" b="1">
              <a:solidFill>
                <a:srgbClr val="F7C98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72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4" name="直接箭头连接符 23"/>
          <p:cNvCxnSpPr>
            <a:stCxn id="16" idx="0"/>
            <a:endCxn id="7" idx="2"/>
          </p:cNvCxnSpPr>
          <p:nvPr/>
        </p:nvCxnSpPr>
        <p:spPr>
          <a:xfrm flipV="1">
            <a:off x="5143500" y="3514725"/>
            <a:ext cx="0" cy="733425"/>
          </a:xfrm>
          <a:prstGeom prst="straightConnector1">
            <a:avLst/>
          </a:prstGeom>
          <a:ln w="28575">
            <a:solidFill>
              <a:srgbClr val="F5B66E"/>
            </a:solidFill>
            <a:prstDash val="solid"/>
            <a:tailEnd type="triangle" w="med" len="med"/>
          </a:ln>
        </p:spPr>
      </p:cxnSp>
      <p:cxnSp>
        <p:nvCxnSpPr>
          <p:cNvPr id="23" name="直接箭头连接符 22"/>
          <p:cNvCxnSpPr>
            <a:stCxn id="13" idx="1"/>
            <a:endCxn id="16" idx="3"/>
          </p:cNvCxnSpPr>
          <p:nvPr/>
        </p:nvCxnSpPr>
        <p:spPr>
          <a:xfrm flipH="1">
            <a:off x="6572250" y="4843463"/>
            <a:ext cx="1619250" cy="0"/>
          </a:xfrm>
          <a:prstGeom prst="straightConnector1">
            <a:avLst/>
          </a:prstGeom>
          <a:ln w="28575">
            <a:solidFill>
              <a:srgbClr val="F5B66E"/>
            </a:solidFill>
            <a:prstDash val="solid"/>
            <a:tailEnd type="triangle" w="med" len="med"/>
          </a:ln>
        </p:spPr>
      </p:cxnSp>
      <p:cxnSp>
        <p:nvCxnSpPr>
          <p:cNvPr id="22" name="直接箭头连接符 21"/>
          <p:cNvCxnSpPr>
            <a:stCxn id="10" idx="2"/>
            <a:endCxn id="13" idx="0"/>
          </p:cNvCxnSpPr>
          <p:nvPr/>
        </p:nvCxnSpPr>
        <p:spPr>
          <a:xfrm>
            <a:off x="9620250" y="3514725"/>
            <a:ext cx="0" cy="733425"/>
          </a:xfrm>
          <a:prstGeom prst="straightConnector1">
            <a:avLst/>
          </a:prstGeom>
          <a:ln w="28575">
            <a:solidFill>
              <a:srgbClr val="86CEE4"/>
            </a:solidFill>
            <a:prstDash val="solid"/>
            <a:tailEnd type="triangle" w="med" len="med"/>
          </a:ln>
        </p:spPr>
      </p:cxnSp>
      <p:cxnSp>
        <p:nvCxnSpPr>
          <p:cNvPr id="21" name="直接箭头连接符 20"/>
          <p:cNvCxnSpPr>
            <a:stCxn id="7" idx="3"/>
            <a:endCxn id="10" idx="1"/>
          </p:cNvCxnSpPr>
          <p:nvPr/>
        </p:nvCxnSpPr>
        <p:spPr>
          <a:xfrm>
            <a:off x="6572250" y="2919413"/>
            <a:ext cx="1619250" cy="0"/>
          </a:xfrm>
          <a:prstGeom prst="straightConnector1">
            <a:avLst/>
          </a:prstGeom>
          <a:ln w="28575">
            <a:solidFill>
              <a:srgbClr val="86CEE4"/>
            </a:solidFill>
            <a:prstDash val="solid"/>
            <a:tailEnd type="triangle" w="med" len="med"/>
          </a:ln>
        </p:spPr>
      </p:cxnSp>
      <p:cxnSp>
        <p:nvCxnSpPr>
          <p:cNvPr id="20" name="直接箭头连接符 19"/>
          <p:cNvCxnSpPr>
            <a:stCxn id="7" idx="1"/>
            <a:endCxn id="4" idx="3"/>
          </p:cNvCxnSpPr>
          <p:nvPr/>
        </p:nvCxnSpPr>
        <p:spPr>
          <a:xfrm flipH="1">
            <a:off x="2809875" y="2919413"/>
            <a:ext cx="904875" cy="0"/>
          </a:xfrm>
          <a:prstGeom prst="straightConnector1">
            <a:avLst/>
          </a:prstGeom>
          <a:ln w="28575">
            <a:solidFill>
              <a:srgbClr val="9DDFC3"/>
            </a:solidFill>
            <a:prstDash val="solid"/>
            <a:tailEnd type="triangle" w="med" len="med"/>
          </a:ln>
        </p:spPr>
      </p:cxnSp>
      <p:cxnSp>
        <p:nvCxnSpPr>
          <p:cNvPr id="19" name="直接箭头连接符 18"/>
          <p:cNvCxnSpPr>
            <a:stCxn id="3" idx="2"/>
            <a:endCxn id="7" idx="0"/>
          </p:cNvCxnSpPr>
          <p:nvPr/>
        </p:nvCxnSpPr>
        <p:spPr>
          <a:xfrm>
            <a:off x="5143500" y="2057400"/>
            <a:ext cx="0" cy="266700"/>
          </a:xfrm>
          <a:prstGeom prst="straightConnector1">
            <a:avLst/>
          </a:prstGeom>
          <a:ln w="28575">
            <a:solidFill>
              <a:srgbClr val="F5B66E"/>
            </a:solidFill>
            <a:prstDash val="solid"/>
            <a:tailEnd type="triangle" w="med" len="med"/>
          </a:ln>
        </p:spPr>
      </p:cxnSp>
      <p:sp>
        <p:nvSpPr>
          <p:cNvPr id="29" name="title"/>
          <p:cNvSpPr>
            <a:spLocks noGrp="1"/>
          </p:cNvSpPr>
          <p:nvPr/>
        </p:nvSpPr>
        <p:spPr>
          <a:xfrm>
            <a:off x="666750" y="466725"/>
            <a:ext cx="8096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34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 algn="l">
              <a:defRPr sz="34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4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AI 编码 Agent 的运行框架</a:t>
            </a:r>
            <a:endParaRPr sz="3450" b="1">
              <a:solidFill>
                <a:srgbClr val="F7F9FC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subtitle"/>
          <p:cNvSpPr>
            <a:spLocks noGrp="1"/>
          </p:cNvSpPr>
          <p:nvPr/>
        </p:nvSpPr>
        <p:spPr>
          <a:xfrm>
            <a:off x="685800" y="1095375"/>
            <a:ext cx="619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1950" b="0">
                <a:solidFill>
                  <a:srgbClr val="C7D5E1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 algn="l">
              <a:defRPr sz="1950" b="0">
                <a:solidFill>
                  <a:srgbClr val="C7D5E1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950" b="0">
                <a:solidFill>
                  <a:srgbClr val="C7D5E1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LLM + 工具 + 反馈循环</a:t>
            </a:r>
            <a:endParaRPr sz="1950" b="0">
              <a:solidFill>
                <a:srgbClr val="C7D5E1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" name="input"/>
          <p:cNvSpPr>
            <a:spLocks noGrp="1"/>
          </p:cNvSpPr>
          <p:nvPr/>
        </p:nvSpPr>
        <p:spPr>
          <a:xfrm>
            <a:off x="3714750" y="1685925"/>
            <a:ext cx="28575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 algn="ctr">
              <a:defRPr sz="18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用户任务与已有上下文</a:t>
            </a:r>
            <a:endParaRPr sz="1800" b="1">
              <a:solidFill>
                <a:srgbClr val="F5B66E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output"/>
          <p:cNvSpPr>
            <a:spLocks noGrp="1"/>
          </p:cNvSpPr>
          <p:nvPr/>
        </p:nvSpPr>
        <p:spPr>
          <a:xfrm>
            <a:off x="428625" y="2324100"/>
            <a:ext cx="2381250" cy="1190625"/>
          </a:xfrm>
          <a:prstGeom prst="rect">
            <a:avLst/>
          </a:prstGeom>
          <a:solidFill>
            <a:srgbClr val="0E2B40"/>
          </a:solidFill>
          <a:ln w="19050">
            <a:solidFill>
              <a:srgbClr val="9DDFC3"/>
            </a:solidFill>
            <a:prstDash val="solid"/>
          </a:ln>
        </p:spPr>
      </p:sp>
      <p:sp>
        <p:nvSpPr>
          <p:cNvPr id="5" name="output-title"/>
          <p:cNvSpPr>
            <a:spLocks noGrp="1"/>
          </p:cNvSpPr>
          <p:nvPr/>
        </p:nvSpPr>
        <p:spPr>
          <a:xfrm>
            <a:off x="647700" y="2514600"/>
            <a:ext cx="19431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22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 algn="l">
              <a:defRPr sz="22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2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向用户输出</a:t>
            </a:r>
            <a:endParaRPr sz="2250" b="1">
              <a:solidFill>
                <a:srgbClr val="F7F9FC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output-detail"/>
          <p:cNvSpPr>
            <a:spLocks noGrp="1"/>
          </p:cNvSpPr>
          <p:nvPr/>
        </p:nvSpPr>
        <p:spPr>
          <a:xfrm>
            <a:off x="647700" y="2981325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1575" b="0">
                <a:solidFill>
                  <a:srgbClr val="C7D5E1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 algn="l">
              <a:defRPr sz="1575" b="0">
                <a:solidFill>
                  <a:srgbClr val="C7D5E1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75" b="0">
                <a:solidFill>
                  <a:srgbClr val="C7D5E1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答复、产物与验证结果</a:t>
            </a:r>
            <a:endParaRPr sz="1575" b="0">
              <a:solidFill>
                <a:srgbClr val="C7D5E1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llm"/>
          <p:cNvSpPr>
            <a:spLocks noGrp="1"/>
          </p:cNvSpPr>
          <p:nvPr/>
        </p:nvSpPr>
        <p:spPr>
          <a:xfrm>
            <a:off x="3714750" y="2324100"/>
            <a:ext cx="2857500" cy="1190625"/>
          </a:xfrm>
          <a:prstGeom prst="rect">
            <a:avLst/>
          </a:prstGeom>
          <a:solidFill>
            <a:srgbClr val="0E2B40"/>
          </a:solidFill>
          <a:ln w="19050">
            <a:solidFill>
              <a:srgbClr val="F5B66E"/>
            </a:solidFill>
            <a:prstDash val="solid"/>
          </a:ln>
        </p:spPr>
      </p:sp>
      <p:sp>
        <p:nvSpPr>
          <p:cNvPr id="8" name="llm-title"/>
          <p:cNvSpPr>
            <a:spLocks noGrp="1"/>
          </p:cNvSpPr>
          <p:nvPr/>
        </p:nvSpPr>
        <p:spPr>
          <a:xfrm>
            <a:off x="3933825" y="2514600"/>
            <a:ext cx="24193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22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 algn="l">
              <a:defRPr sz="22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2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LLM 判断下一步</a:t>
            </a:r>
            <a:endParaRPr sz="2250" b="1">
              <a:solidFill>
                <a:srgbClr val="F7F9FC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llm-detail"/>
          <p:cNvSpPr>
            <a:spLocks noGrp="1"/>
          </p:cNvSpPr>
          <p:nvPr/>
        </p:nvSpPr>
        <p:spPr>
          <a:xfrm>
            <a:off x="3933825" y="2981325"/>
            <a:ext cx="2419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1575" b="0">
                <a:solidFill>
                  <a:srgbClr val="C7D5E1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 algn="l">
              <a:defRPr sz="1575" b="0">
                <a:solidFill>
                  <a:srgbClr val="C7D5E1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75" b="0">
                <a:solidFill>
                  <a:srgbClr val="C7D5E1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回答或请求使用工具</a:t>
            </a:r>
            <a:endParaRPr sz="1575" b="0">
              <a:solidFill>
                <a:srgbClr val="C7D5E1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0" name="tool"/>
          <p:cNvSpPr>
            <a:spLocks noGrp="1"/>
          </p:cNvSpPr>
          <p:nvPr/>
        </p:nvSpPr>
        <p:spPr>
          <a:xfrm>
            <a:off x="8191500" y="2324100"/>
            <a:ext cx="2857500" cy="1190625"/>
          </a:xfrm>
          <a:prstGeom prst="rect">
            <a:avLst/>
          </a:prstGeom>
          <a:solidFill>
            <a:srgbClr val="0E2B40"/>
          </a:solidFill>
          <a:ln w="19050">
            <a:solidFill>
              <a:srgbClr val="86CEE4"/>
            </a:solidFill>
            <a:prstDash val="solid"/>
          </a:ln>
        </p:spPr>
      </p:sp>
      <p:sp>
        <p:nvSpPr>
          <p:cNvPr id="11" name="tool-title"/>
          <p:cNvSpPr>
            <a:spLocks noGrp="1"/>
          </p:cNvSpPr>
          <p:nvPr/>
        </p:nvSpPr>
        <p:spPr>
          <a:xfrm>
            <a:off x="8410575" y="2514600"/>
            <a:ext cx="24193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22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 algn="l">
              <a:defRPr sz="22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2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运行时执行工具</a:t>
            </a:r>
            <a:endParaRPr sz="2250" b="1">
              <a:solidFill>
                <a:srgbClr val="F7F9FC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2" name="tool-detail"/>
          <p:cNvSpPr>
            <a:spLocks noGrp="1"/>
          </p:cNvSpPr>
          <p:nvPr/>
        </p:nvSpPr>
        <p:spPr>
          <a:xfrm>
            <a:off x="8410575" y="2981325"/>
            <a:ext cx="2419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1575" b="0">
                <a:solidFill>
                  <a:srgbClr val="C7D5E1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 algn="l">
              <a:defRPr sz="1575" b="0">
                <a:solidFill>
                  <a:srgbClr val="C7D5E1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75" b="0">
                <a:solidFill>
                  <a:srgbClr val="C7D5E1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读写文件、运行命令</a:t>
            </a:r>
            <a:endParaRPr sz="1575" b="0">
              <a:solidFill>
                <a:srgbClr val="C7D5E1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3" name="result"/>
          <p:cNvSpPr>
            <a:spLocks noGrp="1"/>
          </p:cNvSpPr>
          <p:nvPr/>
        </p:nvSpPr>
        <p:spPr>
          <a:xfrm>
            <a:off x="8191500" y="4248150"/>
            <a:ext cx="2857500" cy="1190625"/>
          </a:xfrm>
          <a:prstGeom prst="rect">
            <a:avLst/>
          </a:prstGeom>
          <a:solidFill>
            <a:srgbClr val="0E2B40"/>
          </a:solidFill>
          <a:ln w="19050">
            <a:solidFill>
              <a:srgbClr val="86CEE4"/>
            </a:solidFill>
            <a:prstDash val="solid"/>
          </a:ln>
        </p:spPr>
      </p:sp>
      <p:sp>
        <p:nvSpPr>
          <p:cNvPr id="14" name="result-title"/>
          <p:cNvSpPr>
            <a:spLocks noGrp="1"/>
          </p:cNvSpPr>
          <p:nvPr/>
        </p:nvSpPr>
        <p:spPr>
          <a:xfrm>
            <a:off x="8410575" y="4438650"/>
            <a:ext cx="24193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22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 algn="l">
              <a:defRPr sz="22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2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观察工具结果</a:t>
            </a:r>
            <a:endParaRPr sz="2250" b="1">
              <a:solidFill>
                <a:srgbClr val="F7F9FC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5" name="result-detail"/>
          <p:cNvSpPr>
            <a:spLocks noGrp="1"/>
          </p:cNvSpPr>
          <p:nvPr/>
        </p:nvSpPr>
        <p:spPr>
          <a:xfrm>
            <a:off x="8410575" y="4905375"/>
            <a:ext cx="2419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1575" b="0">
                <a:solidFill>
                  <a:srgbClr val="C7D5E1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 algn="l">
              <a:defRPr sz="1575" b="0">
                <a:solidFill>
                  <a:srgbClr val="C7D5E1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75" b="0">
                <a:solidFill>
                  <a:srgbClr val="C7D5E1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文件、日志与测试反馈</a:t>
            </a:r>
            <a:endParaRPr sz="1575" b="0">
              <a:solidFill>
                <a:srgbClr val="C7D5E1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6" name="context"/>
          <p:cNvSpPr>
            <a:spLocks noGrp="1"/>
          </p:cNvSpPr>
          <p:nvPr/>
        </p:nvSpPr>
        <p:spPr>
          <a:xfrm>
            <a:off x="3714750" y="4248150"/>
            <a:ext cx="2857500" cy="1190625"/>
          </a:xfrm>
          <a:prstGeom prst="rect">
            <a:avLst/>
          </a:prstGeom>
          <a:solidFill>
            <a:srgbClr val="0E2B40"/>
          </a:solidFill>
          <a:ln w="19050">
            <a:solidFill>
              <a:srgbClr val="F5B66E"/>
            </a:solidFill>
            <a:prstDash val="solid"/>
          </a:ln>
        </p:spPr>
      </p:sp>
      <p:sp>
        <p:nvSpPr>
          <p:cNvPr id="17" name="context-title"/>
          <p:cNvSpPr>
            <a:spLocks noGrp="1"/>
          </p:cNvSpPr>
          <p:nvPr/>
        </p:nvSpPr>
        <p:spPr>
          <a:xfrm>
            <a:off x="3933825" y="4438650"/>
            <a:ext cx="24193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22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 algn="l">
              <a:defRPr sz="22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250" b="1">
                <a:solidFill>
                  <a:srgbClr val="F7F9FC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上下文更新</a:t>
            </a:r>
            <a:endParaRPr sz="2250" b="1">
              <a:solidFill>
                <a:srgbClr val="F7F9FC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8" name="context-detail"/>
          <p:cNvSpPr>
            <a:spLocks noGrp="1"/>
          </p:cNvSpPr>
          <p:nvPr/>
        </p:nvSpPr>
        <p:spPr>
          <a:xfrm>
            <a:off x="3933825" y="4905375"/>
            <a:ext cx="2419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1575" b="0">
                <a:solidFill>
                  <a:srgbClr val="C7D5E1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 algn="l">
              <a:defRPr sz="1575" b="0">
                <a:solidFill>
                  <a:srgbClr val="C7D5E1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75" b="0">
                <a:solidFill>
                  <a:srgbClr val="C7D5E1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结果进入下一轮输入</a:t>
            </a:r>
            <a:endParaRPr sz="1575" b="0">
              <a:solidFill>
                <a:srgbClr val="C7D5E1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5" name="finish-label"/>
          <p:cNvSpPr>
            <a:spLocks noGrp="1"/>
          </p:cNvSpPr>
          <p:nvPr/>
        </p:nvSpPr>
        <p:spPr>
          <a:xfrm>
            <a:off x="2886075" y="2533650"/>
            <a:ext cx="742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b="1">
                <a:solidFill>
                  <a:srgbClr val="9DDFC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 algn="ctr">
              <a:defRPr sz="1350" b="1">
                <a:solidFill>
                  <a:srgbClr val="9DDFC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9DDFC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完成</a:t>
            </a:r>
            <a:endParaRPr sz="1350" b="1">
              <a:solidFill>
                <a:srgbClr val="9DDFC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6" name="tool-label"/>
          <p:cNvSpPr>
            <a:spLocks noGrp="1"/>
          </p:cNvSpPr>
          <p:nvPr/>
        </p:nvSpPr>
        <p:spPr>
          <a:xfrm>
            <a:off x="6715125" y="2533650"/>
            <a:ext cx="13620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b="1">
                <a:solidFill>
                  <a:srgbClr val="86CEE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 algn="ctr">
              <a:defRPr sz="1350" b="1">
                <a:solidFill>
                  <a:srgbClr val="86CEE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86CEE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需调用工具</a:t>
            </a:r>
            <a:endParaRPr sz="1350" b="1">
              <a:solidFill>
                <a:srgbClr val="86CEE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7" name="loop-label"/>
          <p:cNvSpPr>
            <a:spLocks noGrp="1"/>
          </p:cNvSpPr>
          <p:nvPr/>
        </p:nvSpPr>
        <p:spPr>
          <a:xfrm>
            <a:off x="6762750" y="3667125"/>
            <a:ext cx="1238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 algn="ctr">
              <a:defRPr sz="2025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025" b="1">
                <a:solidFill>
                  <a:srgbClr val="F5B66E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反馈循环</a:t>
            </a:r>
            <a:endParaRPr sz="2025" b="1">
              <a:solidFill>
                <a:srgbClr val="F5B66E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369</Words>
  <Application>WPS 演示</Application>
  <PresentationFormat>Converted Presentation</PresentationFormat>
  <Paragraphs>74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5" baseType="lpstr">
      <vt:lpstr>Arial</vt:lpstr>
      <vt:lpstr>宋体</vt:lpstr>
      <vt:lpstr>Wingdings</vt:lpstr>
      <vt:lpstr>Hiragino Sans GB</vt:lpstr>
      <vt:lpstr>微软雅黑</vt:lpstr>
      <vt:lpstr>汉仪旗黑</vt:lpstr>
      <vt:lpstr>宋体</vt:lpstr>
      <vt:lpstr>Arial Unicode MS</vt:lpstr>
      <vt:lpstr>宋体-简</vt:lpstr>
      <vt:lpstr>Aptos</vt:lpstr>
      <vt:lpstr>Helvetica Neue</vt:lpstr>
      <vt:lpstr>Calibri</vt:lpstr>
      <vt:lpstr>ChatGPT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李磊</cp:lastModifiedBy>
  <cp:revision>1</cp:revision>
  <dcterms:created xsi:type="dcterms:W3CDTF">2026-10-14T15:45:42Z</dcterms:created>
  <dcterms:modified xsi:type="dcterms:W3CDTF">2026-10-14T15:45:42Z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2052-12.1.29181.29181</vt:lpwstr>
  </property>
  <property fmtid="{D5CDD505-2E9C-101B-9397-08002B2CF9AE}" pid="3" name="ICV">
    <vt:lpwstr>331FE497C2E74A9FA6A3CF6AE30A4602_42</vt:lpwstr>
  </property>
</Properties>
</file>