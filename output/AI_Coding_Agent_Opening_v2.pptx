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8968b46f5e74abd" /><Relationship Type="http://schemas.openxmlformats.org/officeDocument/2006/relationships/extended-properties" Target="/docProps/app.xml" Id="R94cd874ac5454419" /><Relationship Type="http://schemas.openxmlformats.org/officeDocument/2006/relationships/officeDocument" Target="/ppt/presentation.xml" Id="Re096f1b5c54f4b7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3a95c03b1ce4335"/>
  </p:sldMasterIdLst>
  <p:notesMasterIdLst>
    <p:notesMasterId xmlns:r="http://schemas.openxmlformats.org/officeDocument/2006/relationships" r:id="R49ca4b858fd04479"/>
  </p:notesMasterIdLst>
  <p:sldIdLst>
    <p:sldId xmlns:r="http://schemas.openxmlformats.org/officeDocument/2006/relationships" id="256" r:id="R9a30f92fd5594fa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529d16ad9fc46d9" /><Relationship Type="http://schemas.openxmlformats.org/officeDocument/2006/relationships/slideMaster" Target="/ppt/slideMasters/slideMaster1.xml" Id="R73a95c03b1ce4335" /><Relationship Type="http://schemas.openxmlformats.org/officeDocument/2006/relationships/notesMaster" Target="/ppt/notesMasters/notesMaster1.xml" Id="R49ca4b858fd04479" /><Relationship Type="http://schemas.openxmlformats.org/officeDocument/2006/relationships/presProps" Target="/ppt/presProps.xml" Id="R8e4b1806397747a6" /><Relationship Type="http://schemas.openxmlformats.org/officeDocument/2006/relationships/tableStyles" Target="/ppt/tableStyles.xml" Id="R05ec3471fe5d46b1" /><Relationship Type="http://schemas.openxmlformats.org/officeDocument/2006/relationships/slide" Target="/ppt/slides/slide1.xml" Id="R9a30f92fd5594fa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8db8654d0c4497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bcb6db694b64759" /><Relationship Type="http://schemas.openxmlformats.org/officeDocument/2006/relationships/notesMaster" Target="/ppt/notesMasters/notesMaster1.xml" Id="R5d21f9ad32134c1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讲解提示：这里的时间段是代表节点，不是互不重叠的技术时代。检索、工具、推理与 Agent 研究并行发展。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RAG 论文发表于 2020 年；Function Calling 发布于 2023 年。GPT-4o 是多模态代表，因单页空间有限未列入主线。ReAct 在 2022 年已经讨论推理与行动交替，所以 2025 年强调编码 Agent 产品进入开发流程。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过渡：打开 Outline.md 的 myls 示例，问学员 stdout、stderr、退出码由谁定义；接着演示 Red→Green→Review。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资料：Transformer https://research.google/pubs/attention-is-all-you-need/ ; BERT https://arxiv.org/abs/1810.04805 ; GPT-2 https://openai.com/index/better-language-models/ ; GPT-3 https://openai.com/index/language-models-are-few-shot-learners/ ; ChatGPT https://openai.com/index/chatgpt/ ; GPT-4 https://openai.com/index/gpt-4/ ; RAG https://arxiv.org/abs/2005.11401 ; Function Calling https://openai.com/index/function-calling-and-other-api-updates/ ; o1 https://openai.com/index/introducing-openai-o1-preview/ ; DeepSeek-R1 https://deepseek.com/en/news/deepseek-r1/ ; ReAct https://research.google/blog/react-synergizing-reasoning-and-acting-in-language-models/ ; Claude Code https://www.anthropic.com/news/claude-3-7-sonnet ; Codex https://openai.com/index/introducing-codex/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174388de4de4de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c9751d0c9264f3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22a044e6f7a480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010fd5b841d461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dd61f7778b7463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070adfa872747a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B7B3908-A0E1-46FD-957E-69CDAD9938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FC50745-94E6-4409-A647-9A9B1093807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04FAAD4E-8A8A-48ED-90AF-E30A633E36B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6BDABC7-7FD6-4F64-98BC-3CD202C468A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B1A477DE-615A-464F-A70E-03845615844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33BC00E-4221-406C-B8FE-70D75B22E2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0D73E88-DB65-4B36-88BA-0DCE35292E4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E7AB0522-9223-4356-90DB-D595BF251B1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DC446EA-49D6-4808-998E-20F4073C73F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9EC31E9-C88F-4C4A-A554-29AFCBEFA81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c9ce41530da4cad" /><Relationship Type="http://schemas.openxmlformats.org/officeDocument/2006/relationships/slideLayout" Target="/ppt/slideLayouts/slideLayout1.xml" Id="R3e40fb81d4584b5a" /><Relationship Type="http://schemas.openxmlformats.org/officeDocument/2006/relationships/slideLayout" Target="/ppt/slideLayouts/slideLayout2.xml" Id="R3326435333a54a17" /><Relationship Type="http://schemas.openxmlformats.org/officeDocument/2006/relationships/slideLayout" Target="/ppt/slideLayouts/slideLayout3.xml" Id="R75c483aae1004806" /><Relationship Type="http://schemas.openxmlformats.org/officeDocument/2006/relationships/slideLayout" Target="/ppt/slideLayouts/slideLayout4.xml" Id="R6412a0e5ba4d45a2" /><Relationship Type="http://schemas.openxmlformats.org/officeDocument/2006/relationships/slideLayout" Target="/ppt/slideLayouts/slideLayout5.xml" Id="R10d5949cd2064942" /><Relationship Type="http://schemas.openxmlformats.org/officeDocument/2006/relationships/slideLayout" Target="/ppt/slideLayouts/slideLayout6.xml" Id="R415e49bec2784fd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e40fb81d4584b5a"/>
    <p:sldLayoutId xmlns:r="http://schemas.openxmlformats.org/officeDocument/2006/relationships" id="2147483650" r:id="R3326435333a54a17"/>
    <p:sldLayoutId xmlns:r="http://schemas.openxmlformats.org/officeDocument/2006/relationships" id="2147483651" r:id="R75c483aae1004806"/>
    <p:sldLayoutId xmlns:r="http://schemas.openxmlformats.org/officeDocument/2006/relationships" id="2147483652" r:id="R6412a0e5ba4d45a2"/>
    <p:sldLayoutId xmlns:r="http://schemas.openxmlformats.org/officeDocument/2006/relationships" id="2147483653" r:id="R10d5949cd2064942"/>
    <p:sldLayoutId xmlns:r="http://schemas.openxmlformats.org/officeDocument/2006/relationships" id="2147483654" r:id="R415e49bec2784fd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d0225dcae1c43b3" /><Relationship Type="http://schemas.openxmlformats.org/officeDocument/2006/relationships/image" Target="/ppt/media/image.png" Id="Rd1affa7d5d444c5b" /><Relationship Type="http://schemas.openxmlformats.org/officeDocument/2006/relationships/notesSlide" Target="/ppt/notesSlides/notesSlide1.xml" Id="R2459f47f63f24f36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7BF7394-1723-45FE-B32E-026FAB9DAA3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affa7d5d444c5b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F67E1433-2E9E-452D-9A04-A3764E66D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8191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>
              <a:defRPr sz="3450" b="1">
                <a:solidFill>
                  <a:srgbClr val="F7F9FC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F7F9F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450" b="1">
                <a:solidFill>
                  <a:srgbClr val="F7F9FC"/>
                </a:solidFill>
                <a:latin typeface="Hiragino Sans GB"/>
                <a:ea typeface="Hiragino Sans GB"/>
                <a:cs typeface="Hiragino Sans GB"/>
              </a:rPr>
              <a:t>AI 编码 Agent 的发展脉络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586E34F6-7F16-43BE-A7FF-187146E7E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619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>
              <a:defRPr sz="1725" b="0">
                <a:solidFill>
                  <a:srgbClr val="B8C9DB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B8C9D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B8C9DB"/>
                </a:solidFill>
                <a:latin typeface="Hiragino Sans GB"/>
                <a:ea typeface="Hiragino Sans GB"/>
                <a:cs typeface="Hiragino Sans GB"/>
              </a:rPr>
              <a:t>代表节点相互重叠，并非严格分期</a:t>
            </a:r>
          </a:p>
        </p:txBody>
      </p:sp>
      <p:sp>
        <p:nvSpPr>
          <p:cNvPr id="4" name="year-1">
            <a:extLst xmlns:a="http://schemas.openxmlformats.org/drawingml/2006/main">
              <a:ext uri="{FF2B5EF4-FFF2-40B4-BE49-F238E27FC236}">
                <a16:creationId xmlns:a16="http://schemas.microsoft.com/office/drawing/2014/main" id="{E1337C80-6458-455B-9993-B94A8F5D4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24025"/>
            <a:ext cx="1409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>
              <a:defRPr sz="1500" b="1">
                <a:solidFill>
                  <a:srgbClr val="F5B66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F5B66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F5B66E"/>
                </a:solidFill>
                <a:latin typeface="Hiragino Sans GB"/>
                <a:ea typeface="Hiragino Sans GB"/>
                <a:cs typeface="Hiragino Sans GB"/>
              </a:rPr>
              <a:t>2017—2019</a:t>
            </a:r>
          </a:p>
        </p:txBody>
      </p:sp>
      <p:sp>
        <p:nvSpPr>
          <p:cNvPr id="5" name="label-1">
            <a:extLst xmlns:a="http://schemas.openxmlformats.org/drawingml/2006/main">
              <a:ext uri="{FF2B5EF4-FFF2-40B4-BE49-F238E27FC236}">
                <a16:creationId xmlns:a16="http://schemas.microsoft.com/office/drawing/2014/main" id="{4876FFC7-354A-4B55-8D47-AF14B514D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1685925"/>
            <a:ext cx="466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>
              <a:defRPr sz="2025" b="1">
                <a:solidFill>
                  <a:srgbClr val="F7F9FC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F7F9F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F7F9FC"/>
                </a:solidFill>
                <a:latin typeface="Hiragino Sans GB"/>
                <a:ea typeface="Hiragino Sans GB"/>
                <a:cs typeface="Hiragino Sans GB"/>
              </a:rPr>
              <a:t>架构与预训练</a:t>
            </a:r>
          </a:p>
        </p:txBody>
      </p:sp>
      <p:sp>
        <p:nvSpPr>
          <p:cNvPr id="6" name="examples-1">
            <a:extLst xmlns:a="http://schemas.openxmlformats.org/drawingml/2006/main">
              <a:ext uri="{FF2B5EF4-FFF2-40B4-BE49-F238E27FC236}">
                <a16:creationId xmlns:a16="http://schemas.microsoft.com/office/drawing/2014/main" id="{37C9DE9E-F43C-4454-891C-FC9087EB8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1990725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>
              <a:defRPr sz="1575" b="0">
                <a:solidFill>
                  <a:srgbClr val="B8C9DB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B8C9D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B8C9DB"/>
                </a:solidFill>
                <a:latin typeface="Hiragino Sans GB"/>
                <a:ea typeface="Hiragino Sans GB"/>
                <a:cs typeface="Hiragino Sans GB"/>
              </a:rPr>
              <a:t>Transformer、BERT、GPT-2</a:t>
            </a:r>
          </a:p>
        </p:txBody>
      </p:sp>
      <p:sp>
        <p:nvSpPr>
          <p:cNvPr id="7" name="year-2">
            <a:extLst xmlns:a="http://schemas.openxmlformats.org/drawingml/2006/main">
              <a:ext uri="{FF2B5EF4-FFF2-40B4-BE49-F238E27FC236}">
                <a16:creationId xmlns:a16="http://schemas.microsoft.com/office/drawing/2014/main" id="{F30F44EB-99F0-479C-9B7A-A631538DB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71725"/>
            <a:ext cx="1409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>
              <a:defRPr sz="1500" b="1">
                <a:solidFill>
                  <a:srgbClr val="F5B66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F5B66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F5B66E"/>
                </a:solidFill>
                <a:latin typeface="Hiragino Sans GB"/>
                <a:ea typeface="Hiragino Sans GB"/>
                <a:cs typeface="Hiragino Sans GB"/>
              </a:rPr>
              <a:t>2020—2022</a:t>
            </a:r>
          </a:p>
        </p:txBody>
      </p:sp>
      <p:sp>
        <p:nvSpPr>
          <p:cNvPr id="8" name="label-2">
            <a:extLst xmlns:a="http://schemas.openxmlformats.org/drawingml/2006/main">
              <a:ext uri="{FF2B5EF4-FFF2-40B4-BE49-F238E27FC236}">
                <a16:creationId xmlns:a16="http://schemas.microsoft.com/office/drawing/2014/main" id="{2B00F9ED-F8D1-4083-B147-05DF2935A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333625"/>
            <a:ext cx="466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>
              <a:defRPr sz="2025" b="1">
                <a:solidFill>
                  <a:srgbClr val="F7F9FC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F7F9F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F7F9FC"/>
                </a:solidFill>
                <a:latin typeface="Hiragino Sans GB"/>
                <a:ea typeface="Hiragino Sans GB"/>
                <a:cs typeface="Hiragino Sans GB"/>
              </a:rPr>
              <a:t>规模化与少样本</a:t>
            </a:r>
          </a:p>
        </p:txBody>
      </p:sp>
      <p:sp>
        <p:nvSpPr>
          <p:cNvPr id="9" name="examples-2">
            <a:extLst xmlns:a="http://schemas.openxmlformats.org/drawingml/2006/main">
              <a:ext uri="{FF2B5EF4-FFF2-40B4-BE49-F238E27FC236}">
                <a16:creationId xmlns:a16="http://schemas.microsoft.com/office/drawing/2014/main" id="{FB6AE4E1-4C10-4D29-B881-AC677FFA4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638425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>
              <a:defRPr sz="1575" b="0">
                <a:solidFill>
                  <a:srgbClr val="B8C9DB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B8C9D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B8C9DB"/>
                </a:solidFill>
                <a:latin typeface="Hiragino Sans GB"/>
                <a:ea typeface="Hiragino Sans GB"/>
                <a:cs typeface="Hiragino Sans GB"/>
              </a:rPr>
              <a:t>GPT-3</a:t>
            </a:r>
          </a:p>
        </p:txBody>
      </p:sp>
      <p:sp>
        <p:nvSpPr>
          <p:cNvPr id="10" name="year-3">
            <a:extLst xmlns:a="http://schemas.openxmlformats.org/drawingml/2006/main">
              <a:ext uri="{FF2B5EF4-FFF2-40B4-BE49-F238E27FC236}">
                <a16:creationId xmlns:a16="http://schemas.microsoft.com/office/drawing/2014/main" id="{BA2738A1-4E25-4AA7-BCA8-9DC6BB864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19425"/>
            <a:ext cx="1409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>
              <a:defRPr sz="1500" b="1">
                <a:solidFill>
                  <a:srgbClr val="F5B66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F5B66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F5B66E"/>
                </a:solidFill>
                <a:latin typeface="Hiragino Sans GB"/>
                <a:ea typeface="Hiragino Sans GB"/>
                <a:cs typeface="Hiragino Sans GB"/>
              </a:rPr>
              <a:t>2022—2023</a:t>
            </a:r>
          </a:p>
        </p:txBody>
      </p:sp>
      <p:sp>
        <p:nvSpPr>
          <p:cNvPr id="11" name="label-3">
            <a:extLst xmlns:a="http://schemas.openxmlformats.org/drawingml/2006/main">
              <a:ext uri="{FF2B5EF4-FFF2-40B4-BE49-F238E27FC236}">
                <a16:creationId xmlns:a16="http://schemas.microsoft.com/office/drawing/2014/main" id="{7D47CC57-52FF-4771-B71C-2F18EA051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981325"/>
            <a:ext cx="466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>
              <a:defRPr sz="2025" b="1">
                <a:solidFill>
                  <a:srgbClr val="F7F9FC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F7F9F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F7F9FC"/>
                </a:solidFill>
                <a:latin typeface="Hiragino Sans GB"/>
                <a:ea typeface="Hiragino Sans GB"/>
                <a:cs typeface="Hiragino Sans GB"/>
              </a:rPr>
              <a:t>对话交互</a:t>
            </a:r>
          </a:p>
        </p:txBody>
      </p:sp>
      <p:sp>
        <p:nvSpPr>
          <p:cNvPr id="12" name="examples-3">
            <a:extLst xmlns:a="http://schemas.openxmlformats.org/drawingml/2006/main">
              <a:ext uri="{FF2B5EF4-FFF2-40B4-BE49-F238E27FC236}">
                <a16:creationId xmlns:a16="http://schemas.microsoft.com/office/drawing/2014/main" id="{E69DC472-D5CF-48D0-8483-7268E9292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3286125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>
              <a:defRPr sz="1575" b="0">
                <a:solidFill>
                  <a:srgbClr val="B8C9DB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B8C9D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B8C9DB"/>
                </a:solidFill>
                <a:latin typeface="Hiragino Sans GB"/>
                <a:ea typeface="Hiragino Sans GB"/>
                <a:cs typeface="Hiragino Sans GB"/>
              </a:rPr>
              <a:t>ChatGPT、GPT-4</a:t>
            </a:r>
          </a:p>
        </p:txBody>
      </p:sp>
      <p:sp>
        <p:nvSpPr>
          <p:cNvPr id="13" name="year-4">
            <a:extLst xmlns:a="http://schemas.openxmlformats.org/drawingml/2006/main">
              <a:ext uri="{FF2B5EF4-FFF2-40B4-BE49-F238E27FC236}">
                <a16:creationId xmlns:a16="http://schemas.microsoft.com/office/drawing/2014/main" id="{4A1D5722-77FC-4A63-87F9-3E8FA969F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67125"/>
            <a:ext cx="1409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>
              <a:defRPr sz="1500" b="1">
                <a:solidFill>
                  <a:srgbClr val="F5B66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F5B66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F5B66E"/>
                </a:solidFill>
                <a:latin typeface="Hiragino Sans GB"/>
                <a:ea typeface="Hiragino Sans GB"/>
                <a:cs typeface="Hiragino Sans GB"/>
              </a:rPr>
              <a:t>2020—2024</a:t>
            </a:r>
          </a:p>
        </p:txBody>
      </p:sp>
      <p:sp>
        <p:nvSpPr>
          <p:cNvPr id="14" name="label-4">
            <a:extLst xmlns:a="http://schemas.openxmlformats.org/drawingml/2006/main">
              <a:ext uri="{FF2B5EF4-FFF2-40B4-BE49-F238E27FC236}">
                <a16:creationId xmlns:a16="http://schemas.microsoft.com/office/drawing/2014/main" id="{B1A99649-1B22-4D40-93CE-02D14EF51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3629025"/>
            <a:ext cx="466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>
              <a:defRPr sz="2025" b="1">
                <a:solidFill>
                  <a:srgbClr val="F7F9FC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F7F9F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F7F9FC"/>
                </a:solidFill>
                <a:latin typeface="Hiragino Sans GB"/>
                <a:ea typeface="Hiragino Sans GB"/>
                <a:cs typeface="Hiragino Sans GB"/>
              </a:rPr>
              <a:t>检索与工具</a:t>
            </a:r>
          </a:p>
        </p:txBody>
      </p:sp>
      <p:sp>
        <p:nvSpPr>
          <p:cNvPr id="15" name="examples-4">
            <a:extLst xmlns:a="http://schemas.openxmlformats.org/drawingml/2006/main">
              <a:ext uri="{FF2B5EF4-FFF2-40B4-BE49-F238E27FC236}">
                <a16:creationId xmlns:a16="http://schemas.microsoft.com/office/drawing/2014/main" id="{B56D41FE-A243-4979-B225-963E279CB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3933825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>
              <a:defRPr sz="1575" b="0">
                <a:solidFill>
                  <a:srgbClr val="B8C9DB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B8C9D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B8C9DB"/>
                </a:solidFill>
                <a:latin typeface="Hiragino Sans GB"/>
                <a:ea typeface="Hiragino Sans GB"/>
                <a:cs typeface="Hiragino Sans GB"/>
              </a:rPr>
              <a:t>RAG、Function Calling</a:t>
            </a:r>
          </a:p>
        </p:txBody>
      </p:sp>
      <p:sp>
        <p:nvSpPr>
          <p:cNvPr id="16" name="year-5">
            <a:extLst xmlns:a="http://schemas.openxmlformats.org/drawingml/2006/main">
              <a:ext uri="{FF2B5EF4-FFF2-40B4-BE49-F238E27FC236}">
                <a16:creationId xmlns:a16="http://schemas.microsoft.com/office/drawing/2014/main" id="{424F44C1-1014-4732-98BD-3A4D84355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14825"/>
            <a:ext cx="1409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>
              <a:defRPr sz="1500" b="1">
                <a:solidFill>
                  <a:srgbClr val="F5B66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F5B66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F5B66E"/>
                </a:solidFill>
                <a:latin typeface="Hiragino Sans GB"/>
                <a:ea typeface="Hiragino Sans GB"/>
                <a:cs typeface="Hiragino Sans GB"/>
              </a:rPr>
              <a:t>2024—2025</a:t>
            </a:r>
          </a:p>
        </p:txBody>
      </p:sp>
      <p:sp>
        <p:nvSpPr>
          <p:cNvPr id="17" name="label-5">
            <a:extLst xmlns:a="http://schemas.openxmlformats.org/drawingml/2006/main">
              <a:ext uri="{FF2B5EF4-FFF2-40B4-BE49-F238E27FC236}">
                <a16:creationId xmlns:a16="http://schemas.microsoft.com/office/drawing/2014/main" id="{30B4FC4A-EF7A-4CCA-84A6-2EEEDB177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4276725"/>
            <a:ext cx="466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>
              <a:defRPr sz="2025" b="1">
                <a:solidFill>
                  <a:srgbClr val="F7F9FC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F7F9F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F7F9FC"/>
                </a:solidFill>
                <a:latin typeface="Hiragino Sans GB"/>
                <a:ea typeface="Hiragino Sans GB"/>
                <a:cs typeface="Hiragino Sans GB"/>
              </a:rPr>
              <a:t>推理能力</a:t>
            </a:r>
          </a:p>
        </p:txBody>
      </p:sp>
      <p:sp>
        <p:nvSpPr>
          <p:cNvPr id="18" name="examples-5">
            <a:extLst xmlns:a="http://schemas.openxmlformats.org/drawingml/2006/main">
              <a:ext uri="{FF2B5EF4-FFF2-40B4-BE49-F238E27FC236}">
                <a16:creationId xmlns:a16="http://schemas.microsoft.com/office/drawing/2014/main" id="{4B53E856-1757-496D-AF96-DF780F826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4581525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>
              <a:defRPr sz="1575" b="0">
                <a:solidFill>
                  <a:srgbClr val="B8C9DB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B8C9D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B8C9DB"/>
                </a:solidFill>
                <a:latin typeface="Hiragino Sans GB"/>
                <a:ea typeface="Hiragino Sans GB"/>
                <a:cs typeface="Hiragino Sans GB"/>
              </a:rPr>
              <a:t>o1、DeepSeek-R1</a:t>
            </a:r>
          </a:p>
        </p:txBody>
      </p:sp>
      <p:sp>
        <p:nvSpPr>
          <p:cNvPr id="19" name="year-6">
            <a:extLst xmlns:a="http://schemas.openxmlformats.org/drawingml/2006/main">
              <a:ext uri="{FF2B5EF4-FFF2-40B4-BE49-F238E27FC236}">
                <a16:creationId xmlns:a16="http://schemas.microsoft.com/office/drawing/2014/main" id="{34CC8137-7257-4AD0-92EF-EE61D4C56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62525"/>
            <a:ext cx="1409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>
              <a:defRPr sz="1500" b="1">
                <a:solidFill>
                  <a:srgbClr val="F5B66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F5B66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F5B66E"/>
                </a:solidFill>
                <a:latin typeface="Hiragino Sans GB"/>
                <a:ea typeface="Hiragino Sans GB"/>
                <a:cs typeface="Hiragino Sans GB"/>
              </a:rPr>
              <a:t>2025—2026</a:t>
            </a:r>
          </a:p>
        </p:txBody>
      </p:sp>
      <p:sp>
        <p:nvSpPr>
          <p:cNvPr id="20" name="label-6">
            <a:extLst xmlns:a="http://schemas.openxmlformats.org/drawingml/2006/main">
              <a:ext uri="{FF2B5EF4-FFF2-40B4-BE49-F238E27FC236}">
                <a16:creationId xmlns:a16="http://schemas.microsoft.com/office/drawing/2014/main" id="{FBDCD19A-7789-45E6-A2F7-33BB18425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4924425"/>
            <a:ext cx="466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>
              <a:defRPr sz="2025" b="1">
                <a:solidFill>
                  <a:srgbClr val="F7F9FC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F7F9F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F7F9FC"/>
                </a:solidFill>
                <a:latin typeface="Hiragino Sans GB"/>
                <a:ea typeface="Hiragino Sans GB"/>
                <a:cs typeface="Hiragino Sans GB"/>
              </a:rPr>
              <a:t>编码 Agent 产品化</a:t>
            </a:r>
          </a:p>
        </p:txBody>
      </p:sp>
      <p:sp>
        <p:nvSpPr>
          <p:cNvPr id="21" name="examples-6">
            <a:extLst xmlns:a="http://schemas.openxmlformats.org/drawingml/2006/main">
              <a:ext uri="{FF2B5EF4-FFF2-40B4-BE49-F238E27FC236}">
                <a16:creationId xmlns:a16="http://schemas.microsoft.com/office/drawing/2014/main" id="{5295341D-FE75-4D26-BD27-1265189E0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5229225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>
              <a:defRPr sz="1575" b="0">
                <a:solidFill>
                  <a:srgbClr val="B8C9DB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B8C9D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B8C9DB"/>
                </a:solidFill>
                <a:latin typeface="Hiragino Sans GB"/>
                <a:ea typeface="Hiragino Sans GB"/>
                <a:cs typeface="Hiragino Sans GB"/>
              </a:rPr>
              <a:t>Claude Code、Codex</a:t>
            </a:r>
          </a:p>
        </p:txBody>
      </p:sp>
      <p:sp>
        <p:nvSpPr>
          <p:cNvPr id="22" name="closing-question">
            <a:extLst xmlns:a="http://schemas.openxmlformats.org/drawingml/2006/main">
              <a:ext uri="{FF2B5EF4-FFF2-40B4-BE49-F238E27FC236}">
                <a16:creationId xmlns:a16="http://schemas.microsoft.com/office/drawing/2014/main" id="{CD6832EE-1E5A-4FF9-9D75-F5D717FD1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00725"/>
            <a:ext cx="7143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>
              <a:defRPr sz="1950" b="1">
                <a:solidFill>
                  <a:srgbClr val="F7C98F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F7C98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F7C98F"/>
                </a:solidFill>
                <a:latin typeface="Hiragino Sans GB"/>
                <a:ea typeface="Hiragino Sans GB"/>
                <a:cs typeface="Hiragino Sans GB"/>
              </a:rPr>
              <a:t>课堂问题：AI 能改代码，谁来定义它做对了？</a:t>
            </a:r>
          </a:p>
        </p:txBody>
      </p:sp>
    </p:spTree>
    <p:extLst>
      <p:ext uri="{BB962C8B-B14F-4D97-AF65-F5344CB8AC3E}">
        <p14:creationId xmlns:p14="http://schemas.microsoft.com/office/powerpoint/2010/main" val="26627376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2026-10-13T14:10:32.1070000Z</dcterms:created>
  <dcterms:modified xsi:type="dcterms:W3CDTF">2026-10-13T14:10:32.1080000Z</dcterms:modified>
</coreProperties>
</file>